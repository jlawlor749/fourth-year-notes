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BBA8AAD-E1FD-4701-A695-35C34671493D}" type="slidenum"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34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9C2CA3-3A39-42DA-9B76-BE12D445C3FF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35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11651A-5F3F-4B45-AD6E-A428AD7E681C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36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F7610C-3F9B-48A1-BBE5-DA65558A4B7C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0940F2-306C-48C4-BCD2-065749ADC082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E3A3C4-7D49-4B6A-8CE2-FE311B5F0F60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A7DCAB-E046-4DAA-B7D5-72962761EBF5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D25F85-2D00-450C-A4C8-5E2BFA54BA82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2866F0-A8AD-48C6-87E5-AF886035B31E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1ACE48-7A20-4031-A535-E2B763E450AB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88ABDC-4FFA-47D3-A20E-4EA540E9AD99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44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4D3EB2-0CA0-4304-8AE9-464782D1521E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45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C1B637-3D8C-4F33-A150-ABF9F7AB21FE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6200" cy="36068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20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46"/>
          </p:nvPr>
        </p:nvSpPr>
        <p:spPr>
          <a:xfrm>
            <a:off x="4282200" y="10155600"/>
            <a:ext cx="32742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31162D-12CE-44DF-AE0C-9D5C654714BE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B1CE7A-3F65-4DF4-97DC-3A7DBE55EE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918289-EBF0-4C89-A7D8-62CE3CD1FB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32C56A-5B50-4B77-A465-8D5D440F58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B3A3F6-BC81-43A5-BD89-6F090EC2A3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09644DD-E370-4F9C-A6D7-E21A6BCB1D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D97C9F3-0CA1-4631-A9B7-88F5C6F1BC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01931C8-E085-4645-829E-FDF006E849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E55EBAB-64FB-4EAC-B3F1-B3E866A702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CC5AB7A-E774-4794-A05D-80DEAFAEF5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0884916-4184-40EC-A2DB-58A2D961A7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37FDAF-7CF2-4D1B-8981-FBE0BCA76983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77799B-3807-447B-B400-79B8DEA3D812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6311880"/>
            <a:ext cx="12189960" cy="54432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7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8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D2B10C-72A7-4B9C-B30C-8D21C7F4BE37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9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0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1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248347-00D6-443D-8B9B-EDE34650F35A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12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A3BD3B-34C6-45A6-A4F8-AB1B1592B0CF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5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0" y="6311880"/>
            <a:ext cx="12189960" cy="54432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1B2139-18E3-4F14-AB7F-F259E3FA3397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/>
          <p:cNvSpPr/>
          <p:nvPr/>
        </p:nvSpPr>
        <p:spPr>
          <a:xfrm>
            <a:off x="0" y="6311880"/>
            <a:ext cx="12189960" cy="54432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9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0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A4DAF8-AE6A-4EE4-A903-687185B88858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1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2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3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94BAED-4DB9-48E0-911C-E37849A81D20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24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25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6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9FC2B2-37B1-414D-9150-A81C80BB0D20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7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0" y="6311880"/>
            <a:ext cx="12189960" cy="54432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8"/>
          </p:nvPr>
        </p:nvSpPr>
        <p:spPr>
          <a:xfrm>
            <a:off x="4038120" y="638820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9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4C49E3-28D9-4C41-946C-30BF1046E2DA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0"/>
          </p:nvPr>
        </p:nvSpPr>
        <p:spPr>
          <a:xfrm>
            <a:off x="8377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46360" y="3198240"/>
            <a:ext cx="8062200" cy="1309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Week 4</a:t>
            </a:r>
            <a:br>
              <a:rPr sz="4000"/>
            </a:b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Large-scale architectures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98520" y="5792400"/>
            <a:ext cx="656100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Fundamentals of IoT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Dr. Eoin Rogers (eoin.rogers@tudublin.ie)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Lesson Outline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Large-scale systems and their importance to modern IoT systems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System architectures common in IoT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Communication protocols commonly used in IoT systems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Cloud and fog computing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2D2A77-4927-4EE2-A1A7-C5918CC88E8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3440" cy="28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Large-scale systems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344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Software systems can grow extremely large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5962FB0-83DA-444C-B7A7-D1399A9640B5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Large scale systems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Large scale systems are common in modern software development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360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Think of Google, Facebook, YouTube and other services</a:t>
            </a:r>
            <a:endParaRPr b="0" lang="en-US" sz="2800" spc="-1" strike="noStrike">
              <a:solidFill>
                <a:schemeClr val="dk1"/>
              </a:solidFill>
              <a:latin typeface="Arial"/>
              <a:ea typeface="DejaVu Sans"/>
            </a:endParaRPr>
          </a:p>
          <a:p>
            <a:pPr marL="360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Although few systems grow this big, it is important to design systems in such a way that they can scale!</a:t>
            </a:r>
            <a:endParaRPr b="0" lang="en-US" sz="2800" spc="-1" strike="noStrike">
              <a:solidFill>
                <a:schemeClr val="dk1"/>
              </a:solidFill>
              <a:latin typeface="Arial"/>
              <a:ea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BEC6B86-D4C2-4A8E-8FE4-25286950080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Ultra-large scale systems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Systems on the level of Google or TikTok would qualify as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ultra-large scale systems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(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ULSS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used in fields like CS, software engineering and systems engineering to refer to systems with unprecidented: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Amounts of hardware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Lines of code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291000" y="4498560"/>
            <a:ext cx="55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Numbers of users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Volumes of data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034139D-0797-4F6B-86A9-E743567E8D5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Related fields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Systems analysis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is concerned with identifying the goals and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functionality of processes to create systems that can help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achieve them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Often, this involves breaking a system into parts that interact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 acomplish a purpose (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stepwise refinement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Software engineering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is the branch of engineering focused on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software applications and systems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16268BC-965A-4F88-AF6D-5E1FBF574148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Complex systems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complex system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is a system composed of many interacting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components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These systems are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intrinsically difficult to model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due to the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complexity of the interactions of the components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They often exhibit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emergent behaviour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55F2F92-E271-40A1-9371-2116819E4029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3440" cy="28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IoT system architectures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344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IoT systems often qualify as large-scale systems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0350879-3EB7-40B1-8E43-2E03C38F2D13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IoT system architectures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Because IoT devices are often small and low-end, they are often insufficient for any sort of complex code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 can get around this by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outsourcing computation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to an external system or environment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Therefore, it is useful to have some knowledge about how to categorise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basic architectural patterns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0672027-E563-48F1-B4C8-51D2A8C6B463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Device-to-cloud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6" name="object 3" descr=""/>
          <p:cNvPicPr/>
          <p:nvPr/>
        </p:nvPicPr>
        <p:blipFill>
          <a:blip r:embed="rId1"/>
          <a:stretch/>
        </p:blipFill>
        <p:spPr>
          <a:xfrm>
            <a:off x="1980000" y="1326240"/>
            <a:ext cx="8381520" cy="4793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52B6420-D4F1-4E35-B35C-36305B2BBDBD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Device-to-gateway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8" name="object 1" descr=""/>
          <p:cNvPicPr/>
          <p:nvPr/>
        </p:nvPicPr>
        <p:blipFill>
          <a:blip r:embed="rId1"/>
          <a:stretch/>
        </p:blipFill>
        <p:spPr>
          <a:xfrm>
            <a:off x="920520" y="1326600"/>
            <a:ext cx="10599480" cy="4613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D502493-D4D2-4686-8BA8-EE4209B1735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Device-to-device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0" name="object 2" descr=""/>
          <p:cNvPicPr/>
          <p:nvPr/>
        </p:nvPicPr>
        <p:blipFill>
          <a:blip r:embed="rId1"/>
          <a:stretch/>
        </p:blipFill>
        <p:spPr>
          <a:xfrm>
            <a:off x="540000" y="1391760"/>
            <a:ext cx="3060000" cy="472176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 txBox="1"/>
          <p:nvPr/>
        </p:nvSpPr>
        <p:spPr>
          <a:xfrm>
            <a:off x="5040000" y="1800000"/>
            <a:ext cx="6480000" cy="37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1" lang="en-IE" sz="2800" spc="-1" strike="noStrike">
                <a:solidFill>
                  <a:srgbClr val="000000"/>
                </a:solidFill>
                <a:latin typeface="Arial"/>
              </a:rPr>
              <a:t>mesh network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 (or simply </a:t>
            </a:r>
            <a:r>
              <a:rPr b="1" lang="en-IE" sz="2800" spc="-1" strike="noStrike">
                <a:solidFill>
                  <a:srgbClr val="000000"/>
                </a:solidFill>
                <a:latin typeface="Arial"/>
              </a:rPr>
              <a:t>meshnet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) is a local area network topology in which the infrastructure nodes (i.e. bridges, switches, and other infrastructure devices) connect </a:t>
            </a:r>
            <a:r>
              <a:rPr b="1" lang="en-IE" sz="2800" spc="-1" strike="noStrike">
                <a:solidFill>
                  <a:srgbClr val="000000"/>
                </a:solidFill>
                <a:latin typeface="Arial"/>
              </a:rPr>
              <a:t>directly, dynamically and non-hierarchically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 to as many other nodes as possible and cooperate with one another to efficiently route data to and from clients.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0D28857-BF76-4C84-B9B3-0F679EED370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3440" cy="28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Communication protocols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344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Common ways for IoT devices to talk to the cloud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9D8EBCD-14F1-4FB8-A7AC-ECF0BB8D00FF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Communication protocols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choice of communication protocol is often important – for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example, it can have a major impact on both performance and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security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Developing your own protocol is possible, but it is often frowned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upon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 you think of why this is?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3AED866-626C-414E-A98B-F692376D4620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Protocols used in IoT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Two protocols are particularly commonly used in IoT systems: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REST/RESTful APIs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MQTT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99D8E35-2D37-44B9-8783-BD92126A23F3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Representational state transfer (REST)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772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Commonly used in both webdev and IoT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stateless protocol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making use of the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client-server model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Runs on top of existing, common technologies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Typical example: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JSON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to serialise messages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HTTP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) to transmit them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C64169E-CBB8-4AE5-90C2-A06FA021FB85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REST basics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772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You talk to the server by sending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JSON objects inside HTTP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server will return JSON objects in its response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protocol is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connectionless/stateless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(you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need to authenticate each time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, the server won’t remember you!)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server itself will usually have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internal state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!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80D1CA7-B3C6-44B2-84F8-F5F4A496A08F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Other properties of REST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772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The connectionless nature allows for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caching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Commonly used with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load-balancing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, since it is a good fit for this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uniform interface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allows components to evolve independently of each other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Can use a trick called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code-on-demand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, where a server can send JS code to a client in response, so client-side computation can be extended dynamically 😬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368E297-1128-4809-9F50-4F108B1A756F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Message queue telemetry transport (MQTT)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26560" y="16887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Originally developed for satellite communications (!)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Now commonly used for IoT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Works a bit like a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WhatsApp group or mailing list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– allows messages to be sent over a network between a peer machines, facilitated by a central server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However, communication is generally one-way – one member of the group sends messages and others just read them!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D33A009-C196-4E74-8F8E-DE01F5D2F94C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MQTT terminology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26560" y="168876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Broker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– The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central server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that runs the MQTT service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Topic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– A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single MQTT channel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, much like a WhatsApp group or a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mailing list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Publisher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– A client in a topic that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sends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messages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Subscriber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– A client in a topic that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receives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messages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2744799-4F33-490E-8017-A0C7C3E63B8F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MQTT diagram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9" name="object 4" descr=""/>
          <p:cNvPicPr/>
          <p:nvPr/>
        </p:nvPicPr>
        <p:blipFill>
          <a:blip r:embed="rId1"/>
          <a:stretch/>
        </p:blipFill>
        <p:spPr>
          <a:xfrm>
            <a:off x="900000" y="1440000"/>
            <a:ext cx="10514520" cy="4433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5F13889-028E-47E3-845D-2FE72E6D2328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3440" cy="28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Cloud computing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344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IoT often (but not always!) utilises cloud computing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C1FA032-ED03-4826-B45C-15B2CAA62C73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Cloud computing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With cloud computing, most processing occurs on a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centralised server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could be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on-prem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, or could be running on a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third-party cloud service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What might be some advantages and disadvantages of each approach?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60603A5-250F-43F5-B1A9-8A10B5334CAB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Fog computing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Edge computing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is a reaction to cloud computing, where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computation is carried out locally on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edge devices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as much as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possible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Fog computing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is the use of architectures that make extensive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 of edge computing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 fog computing, services are hosted close to where they are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used: at the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network edge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or even at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end devices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!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3C98C6D-23AC-44D2-AFED-977E755EB4D1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Issues with cloud computing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Security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Privacy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GDPR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Vendor lock-in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A5C6606-1040-48B5-AA5E-9D1DD2CA36D1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Issues with fog computing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Higher up-front device cost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Higher power consumption (for users)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Higher device complexity (need to deal with firmware updates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etc.)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More e-waste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F404E69-B86C-495E-B523-2B75EF5005A2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4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Summary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344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Gave an overview of large-scale software systems, and why they are difficult to work with/on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Covered three types of architectural pattern common in IoT (device-to-cloud, -gateway and -device)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Covered both REST and MQTT as exemplar communication protocols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Talked about cloud vs. fog computing and advantages of each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E58EB4F-D811-4F0A-80C1-44DF137DEEE1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610120" y="63882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A0A8F6-6264-4586-9DC1-2C399E286DA6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9</a:t>
            </a:fld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3" name="Rectangle 117"/>
          <p:cNvSpPr/>
          <p:nvPr/>
        </p:nvSpPr>
        <p:spPr>
          <a:xfrm>
            <a:off x="1619640" y="2160000"/>
            <a:ext cx="8818200" cy="16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That’s all for this week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Thanks for your attention!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2025-01-27T13:51:31Z</dcterms:created>
  <dc:creator/>
  <dc:description/>
  <dc:language>en-IE</dc:language>
  <cp:lastModifiedBy/>
  <dcterms:modified xsi:type="dcterms:W3CDTF">2025-10-08T12:44:26Z</dcterms:modified>
  <cp:revision>145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