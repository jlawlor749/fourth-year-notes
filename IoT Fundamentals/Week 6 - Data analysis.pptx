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Slides/_rels/notesSlide39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5.xml.rels" ContentType="application/vnd.openxmlformats-package.relationship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DE2D7D8-D439-4C63-A365-0BBE0ADA6DC1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120" cy="36057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120" cy="42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34"/>
          </p:nvPr>
        </p:nvSpPr>
        <p:spPr>
          <a:xfrm>
            <a:off x="4282200" y="10155600"/>
            <a:ext cx="327312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A1D3AD-5A8B-4813-91C5-F720475890A4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120" cy="36057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120" cy="42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35"/>
          </p:nvPr>
        </p:nvSpPr>
        <p:spPr>
          <a:xfrm>
            <a:off x="4282200" y="10155600"/>
            <a:ext cx="327312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76B85C-DCEB-4C49-9836-C5D9EB633E27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120" cy="36057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120" cy="42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36"/>
          </p:nvPr>
        </p:nvSpPr>
        <p:spPr>
          <a:xfrm>
            <a:off x="4282200" y="10155600"/>
            <a:ext cx="327312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5DC9D9-7E59-4850-B681-134B7F797096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120" cy="36057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120" cy="42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37"/>
          </p:nvPr>
        </p:nvSpPr>
        <p:spPr>
          <a:xfrm>
            <a:off x="4282200" y="10155600"/>
            <a:ext cx="327312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A83A62-F179-4D00-9B38-FDC87949D8BB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756000" y="1336320"/>
            <a:ext cx="6045120" cy="36057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756000" y="5145480"/>
            <a:ext cx="6045120" cy="420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38"/>
          </p:nvPr>
        </p:nvSpPr>
        <p:spPr>
          <a:xfrm>
            <a:off x="4282200" y="10155600"/>
            <a:ext cx="3273120" cy="5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D5F9D9-BEC4-41EE-9DBA-39DBA2265BD6}" type="slidenum">
              <a:rPr b="0" lang="en-GB" sz="1200" spc="-1" strike="noStrike">
                <a:solidFill>
                  <a:srgbClr val="000000"/>
                </a:solidFill>
                <a:latin typeface="Times New Roman"/>
                <a:ea typeface="+mn-ea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B44099-2358-4600-89FC-E8B6AD4098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03A518-2240-4E75-959F-34C2F8A43B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CC79D69-777A-4F57-B3B6-0A250F2190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3CC341-19FD-4486-B74A-9D397187B8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6E4D016-5D8A-45FD-991B-37F553BE67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BBF6EB6-5597-45F2-90AA-7DFC0A9E62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7F7F22D-4207-4F91-A8F6-0404A69CEB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11CD635-86DC-4E62-910F-73B1423DEA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7B0B23A-9FB2-4621-8B5F-78C4849396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F018810-2EC8-4A23-BC38-C3FC5B6C34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719D56-E70F-43D2-8867-1D9429FFBB5D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E670D0-1A32-4009-8435-5679BD2EDC0B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6311880"/>
            <a:ext cx="12188880" cy="5432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7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8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8ADA9D-959E-4D8F-A239-C63161AE6361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dt" idx="9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0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1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B5CD94-CC08-41E8-8FBF-73B3BCAF5F24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2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3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4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7c96cb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0DCD28-D85F-4DF6-AD0D-132A6F215BC0}" type="slidenum">
              <a:rPr b="1" lang="en-GB" sz="1600" spc="-1" strike="noStrike">
                <a:solidFill>
                  <a:srgbClr val="7c96cb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5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E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6311880"/>
            <a:ext cx="12188880" cy="5432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6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17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3A5D20-080B-477A-897B-099F029E8173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18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0" y="6311880"/>
            <a:ext cx="12188880" cy="5432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19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0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11552A-0A53-4F19-8095-5C9EFF9EB005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21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2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3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F09897-4810-40B5-B007-86829F712317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4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60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ftr" idx="25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26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99CE5A-D0C1-496F-B6C6-CE3BDD282723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27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E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IE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IE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IE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IE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E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IE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0" y="6311880"/>
            <a:ext cx="12188880" cy="543240"/>
          </a:xfrm>
          <a:prstGeom prst="rect">
            <a:avLst/>
          </a:prstGeom>
          <a:solidFill>
            <a:srgbClr val="00a9b7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E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E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8"/>
          </p:nvPr>
        </p:nvSpPr>
        <p:spPr>
          <a:xfrm>
            <a:off x="4038120" y="638820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9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en-GB" sz="1600" spc="-1" strike="noStrike">
                <a:solidFill>
                  <a:srgbClr val="fafbfd"/>
                </a:solidFill>
                <a:latin typeface="Arial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29B56D-2A77-49E5-9475-C9DC7FC3D4E5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&lt;number&gt;</a:t>
            </a:fld>
            <a:endParaRPr b="0" lang="en-IE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0"/>
          </p:nvPr>
        </p:nvSpPr>
        <p:spPr>
          <a:xfrm>
            <a:off x="8377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46360" y="3198240"/>
            <a:ext cx="8061120" cy="130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Week 6</a:t>
            </a:r>
            <a:br>
              <a:rPr sz="4000"/>
            </a:br>
            <a:r>
              <a:rPr b="1" lang="en-IE" sz="4000" spc="-1" strike="noStrike">
                <a:solidFill>
                  <a:srgbClr val="fafbfd"/>
                </a:solidFill>
                <a:latin typeface="Arial"/>
                <a:ea typeface="Open sans"/>
              </a:rPr>
              <a:t>Data analysis</a:t>
            </a:r>
            <a:endParaRPr b="0" lang="en-IE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398520" y="5792400"/>
            <a:ext cx="6560640" cy="8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Fundamentals of IoT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600" spc="-1" strike="noStrike">
                <a:solidFill>
                  <a:srgbClr val="fafbfd"/>
                </a:solidFill>
                <a:latin typeface="Open sans"/>
                <a:ea typeface="DejaVu Sans"/>
              </a:rPr>
              <a:t>Dr. Eoin Rogers (eoin.rogers@tudublin.ie)</a:t>
            </a:r>
            <a:endParaRPr b="0" lang="en-IE" sz="2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Lesson Outline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will be a basic introduction to data analysis: what is it and why is it useful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 will cover both NumPy and Pandas, two Python libraries widely used for data analysis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We will also talk briefly about common statistical models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DAEB6E-8AB7-4FE4-8AC3-AF0CA46D669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What is data analysis?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Modern systems often produce significant quantities of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particularly true for IoT!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data can be analysed to discover patterns and useful information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might be good for informed decision making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0F9BC6B-F3FA-4FB1-BE1B-C7C21BA18006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Six step analysis lifecycle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Picture 7" descr="Diagram&#10;&#10;Description automatically generated"/>
          <p:cNvPicPr/>
          <p:nvPr/>
        </p:nvPicPr>
        <p:blipFill>
          <a:blip r:embed="rId1"/>
          <a:stretch/>
        </p:blipFill>
        <p:spPr>
          <a:xfrm>
            <a:off x="1109520" y="1342080"/>
            <a:ext cx="4290480" cy="477792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6120000" y="2340000"/>
            <a:ext cx="5760000" cy="25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Notice that there is a vague similarity to the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scientific method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: we’re trying to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gather data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and then </a:t>
            </a:r>
            <a:r>
              <a:rPr b="1" lang="en-IE" sz="2800" spc="-1" strike="noStrike">
                <a:solidFill>
                  <a:srgbClr val="000000"/>
                </a:solidFill>
                <a:latin typeface="Arial"/>
              </a:rPr>
              <a:t>build models that explain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that data.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02FD571-9F23-413E-9E04-595F7313623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Big data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IoT systems can be a significant source of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big data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. This can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be useful for: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Decision making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Machine learning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Improving IoT systems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it also means we have to be mindful of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ethical issues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!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DF5ED69-6EA1-492F-904B-4430E27AADC4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36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Terminology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36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There are some important pieces of terminology we should keep in mind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BCA352E-7597-428F-AE16-4DA3F5B429D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Data analysis can be: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Descriptive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We might just want to know what happened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Predicitive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We might want to build models to predict what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will happen or to fill in gaps in the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Prescriptive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We might want to use the data to inform 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decision making and help us choose between alternatives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F329250-8196-4888-9E0E-5B15652D671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The four big Vs of data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Volume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The quantity of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Velocity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The frequency of the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Variety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The unpredictability of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Veracity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The accuracy of the data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F08C205-1842-4825-8B34-C125C676E09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States of data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Data can be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 motion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i.e. being transmitted over the network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At rest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i.e. being stored on a disk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 use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– i.e. being processed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2C4EE36-C100-447B-9469-70D8F2CE50DD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36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NumPy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36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Let’s look at some actual code!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5F04D44-9669-46D9-8FA6-7115F3EA5CF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core class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 of NumPy – an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n-dimensional array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Similar to a Python list, but much more powerful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Although everything in the array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must have the same type</a:t>
            </a: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, and the </a:t>
            </a:r>
            <a:r>
              <a:rPr b="1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dimensions along each axis must be uniform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B305229-41A4-4991-80B9-83534F6CA9B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Attributes of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ndim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shape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size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dtype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  <a:ea typeface="DejaVu Sans"/>
              </a:rPr>
              <a:t>itemsize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360F0BC-F598-443E-B2D7-FA72F2B26D8D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an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array() to create a Python list: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import numpy as np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my_array = np.array([[1, 2, 3], 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               </a:t>
            </a: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[4, 5, 6]])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9EDDE9F-2F57-48B6-A3D8-2FCB91ED1E49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an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Or create an array of all zeros: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import numpy as np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my_array = np.zeros(shape=(3, 3))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30103D5-3FAF-45EC-8EF5-758243BBAA17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an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Or of all ones: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import numpy as np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my_array = np.ones(shape=(3, 3))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2A718DB-BBF0-49A9-B6ED-D595E5FCA11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an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440000" y="2340000"/>
            <a:ext cx="9000000" cy="356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arange() to create an array containing a range: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import numpy as np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zero_to_nine = np.arange(10)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two_to_nine = np.arange(2, 10)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zero_to_nine_even = np.arange(0, 10, 2)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99870C3-4D85-443D-ABC2-8F09FE6876FD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an ndarray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1440000" y="2340000"/>
            <a:ext cx="9000000" cy="344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linspace() to create an array containing evenly spaced numbers: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import numpy as np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twelve_numbers = np.linspace(0, 10, 12)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DejaVu Sans"/>
                <a:ea typeface="DejaVu Sans"/>
              </a:rPr>
              <a:t>(Note this includes the 10)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9A38DAF-C6B0-4E7E-9644-27CFB941AD1B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Reshaping an array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four_by_three = twelve_numbers.reshape(4, 3)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E071EDE-4EBE-4348-BB22-1CF41A36EC1A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Elementwise maths operations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440000" y="2340000"/>
            <a:ext cx="9000000" cy="356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If x and y are ndarrays of the same shape: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x + 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x – 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x * y # N.B. This isn’t matrix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      </a:t>
            </a: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# multiplication!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041074F-CAD6-4DA3-B998-8F32786F6104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Matrix multiplication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the @ symbol for matrix multiplication: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x @ 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857D787-A95D-4712-81C3-A31981E31EBA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Array indexing and slicing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Very similar to how it works in Python: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a[0], a[-2], a[1:5]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a[1:5:2], a[1:], a[:5]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a[::2], a[::-1]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325B3F6-6C88-4D69-B838-A2566A52B540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Array indexing and slicing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  <a:spcBef>
                <a:spcPts val="1001"/>
              </a:spcBef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But we can seperate dimensions by commas: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a[0, 5], a[1:3, 5]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a[::2, 3], a[1::2, 2:8]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2FFB977-E770-40AB-AF0E-DD0273DADA76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Three useful methods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440000" y="2340000"/>
            <a:ext cx="9000000" cy="30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</a:t>
            </a: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ravel()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to flatten arrays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</a:t>
            </a: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vstack()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to stack arrays vertically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Use </a:t>
            </a:r>
            <a:r>
              <a:rPr b="1" lang="en-GB" sz="2750" spc="-1" strike="noStrike">
                <a:solidFill>
                  <a:srgbClr val="000000"/>
                </a:solidFill>
                <a:latin typeface="Courier New"/>
                <a:ea typeface="DejaVu Sans"/>
              </a:rPr>
              <a:t>hstack()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to stack arrays horizontally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5A17E03-86A6-4BC0-85C4-486389EFCFBD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36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Pandas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36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This is another Python library widely used for data analysis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4999680" y="360000"/>
            <a:ext cx="6700320" cy="3600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FB7C604-F894-46F1-A5A4-A82A69B542F3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DataFrames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7720" y="182556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DataFrame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is the core data structure used in Pandas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You can think of it as a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cross between a NumPy array and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a database table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Consists of rows of data each of which follows a </a:t>
            </a:r>
            <a:r>
              <a:rPr b="1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schema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GB" sz="2750" spc="-1" strike="noStrike">
                <a:solidFill>
                  <a:srgbClr val="000000"/>
                </a:solidFill>
                <a:latin typeface="Arial"/>
                <a:ea typeface="DejaVu Sans"/>
              </a:rPr>
              <a:t>specified in a columnar format</a:t>
            </a:r>
            <a:endParaRPr b="0" lang="en-IE" sz="2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2E116C23-CA57-4778-A324-8BD0A324D2C4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 DataFrame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440000" y="2160000"/>
            <a:ext cx="990000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import pandas as pd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students = pd.DataFrame({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'Name': ['John', 'Mary', 'Bob', 'Anne'],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'Subject': ['Computer Science', 'Physics',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                 </a:t>
            </a:r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'History', 'Business'],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     </a:t>
            </a:r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'Average exam result': [70, 80, 65, 85],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})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DEB7866-A714-425F-ABAF-E28AE7BD2014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Creating a DataFrame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440000" y="2160000"/>
            <a:ext cx="990000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import pandas as pd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2400" spc="-1" strike="noStrike">
                <a:solidFill>
                  <a:srgbClr val="000000"/>
                </a:solidFill>
                <a:latin typeface="Courier New"/>
              </a:rPr>
              <a:t>students = pd.read_csv('students.csv')</a:t>
            </a:r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24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6A4F8E6-F554-40F5-AFE4-223048237FC3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Useful DataFrame methods and attributes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300000" y="1980000"/>
            <a:ext cx="5220000" cy="357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describe()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T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sort_index()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sort_values(by='name')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00000" y="1980000"/>
            <a:ext cx="4500000" cy="361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head()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tail()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index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columns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GB" sz="2800" spc="-1" strike="noStrike">
                <a:solidFill>
                  <a:srgbClr val="000000"/>
                </a:solidFill>
                <a:latin typeface="Courier New"/>
                <a:ea typeface="DejaVu Sans"/>
              </a:rPr>
              <a:t>to_numpy()</a:t>
            </a:r>
            <a:endParaRPr b="1" lang="en-IE" sz="28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A6C39E8-7105-4258-884C-9CA9D898BB02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Access a column by name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600000" y="2880000"/>
            <a:ext cx="990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students['Name']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B2A29DE-F5AB-4A0E-956E-4087E5FFD055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Access a column by index (primary key)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600000" y="2880000"/>
            <a:ext cx="990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students.loc[0]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DD9EFBF-286A-4237-AA91-69B084B32CB8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Filter a row by column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620000" y="2700000"/>
            <a:ext cx="990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students.loc[0, ['Name', 'Subject']]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8F5781A-2FA0-4D2E-85B6-AB7F5D86FEF6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DataFrames support slicing!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620000" y="2700000"/>
            <a:ext cx="990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students.loc[0:2, ['Name', 'Subject']]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9D11641-D3AC-478F-BB32-5593AE123BAF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Boolean indexing (like an SQL query)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540000" y="2160000"/>
            <a:ext cx="1098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students[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students['Average exam result'] &gt;= 80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r>
              <a:rPr b="1" lang="en-IE" sz="3200" spc="-1" strike="noStrike">
                <a:solidFill>
                  <a:srgbClr val="000000"/>
                </a:solidFill>
                <a:latin typeface="Courier New"/>
              </a:rPr>
              <a:t>]</a:t>
            </a:r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  <a:p>
            <a:endParaRPr b="1" lang="en-IE" sz="3200" spc="-1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B9215B1-D78B-40BC-8B27-A3FF3B83EAFB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831600" y="1709640"/>
            <a:ext cx="10512360" cy="284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pc="-1" strike="noStrike">
                <a:solidFill>
                  <a:srgbClr val="b60057"/>
                </a:solidFill>
                <a:latin typeface="Arial"/>
                <a:ea typeface="DejaVu Sans"/>
              </a:rPr>
              <a:t>Data analysis techniques</a:t>
            </a:r>
            <a:endParaRPr b="0" lang="en-IE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831600" y="4589640"/>
            <a:ext cx="10512360" cy="14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8b8b8b"/>
                </a:solidFill>
                <a:latin typeface="Arial"/>
                <a:ea typeface="DejaVu Sans"/>
              </a:rPr>
              <a:t>This will be the last topic!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F87BB43-ECC9-4E0C-BB54-1BB95AAB0E21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Important terms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7720" y="162000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Averages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Mean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Median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Mode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Standard deviation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Percentiles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3F28080-A721-40DD-88F5-0EBDF76557DE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Dimensionality reduction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92360" y="1688400"/>
            <a:ext cx="10512360" cy="41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Given a high-dimensional input, reduce it to low-dimensional data while minimising the amount of information that is lost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Examples: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Linear discriminant analysis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Principle component analysis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Autoencoders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Information gain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E85EE4E-4AD0-45C1-8991-4FB8FC8C0442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Statistical correlation analysis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792360" y="1688400"/>
            <a:ext cx="10512360" cy="410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mathematical measure of the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similarity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between two variables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9144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other words, given that you know the value of variable A, how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accurately can you predict the value of B?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One measure in common use if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Pearson correlation</a:t>
            </a:r>
            <a:endParaRPr b="0" lang="en-I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BF6ABFA-05BF-4B97-927F-7FDA887F34BA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Pearson correlation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635040" y="2682000"/>
            <a:ext cx="5304960" cy="1476000"/>
          </a:xfrm>
          <a:prstGeom prst="rect">
            <a:avLst/>
          </a:prstGeom>
          <a:ln w="0">
            <a:noFill/>
          </a:ln>
        </p:spPr>
      </p:pic>
      <p:sp>
        <p:nvSpPr>
          <p:cNvPr id="155" name=""/>
          <p:cNvSpPr txBox="1"/>
          <p:nvPr/>
        </p:nvSpPr>
        <p:spPr>
          <a:xfrm>
            <a:off x="7020000" y="1980000"/>
            <a:ext cx="468000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1" lang="en-IE" sz="2800" spc="-1" strike="noStrike">
                <a:solidFill>
                  <a:srgbClr val="000000"/>
                </a:solidFill>
                <a:latin typeface="Courier New"/>
              </a:rPr>
              <a:t>x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and </a:t>
            </a:r>
            <a:r>
              <a:rPr b="1" lang="en-IE" sz="2800" spc="-1" strike="noStrike">
                <a:solidFill>
                  <a:srgbClr val="000000"/>
                </a:solidFill>
                <a:latin typeface="Courier New"/>
              </a:rPr>
              <a:t>y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are the two datasets, both of length </a:t>
            </a:r>
            <a:r>
              <a:rPr b="1" lang="en-IE" sz="2800" spc="-1" strike="noStrike">
                <a:solidFill>
                  <a:srgbClr val="000000"/>
                </a:solidFill>
                <a:latin typeface="Courier New"/>
              </a:rPr>
              <a:t>n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, and we use </a:t>
            </a:r>
            <a:r>
              <a:rPr b="1" lang="en-IE" sz="2800" spc="-1" strike="noStrike">
                <a:solidFill>
                  <a:srgbClr val="000000"/>
                </a:solidFill>
                <a:latin typeface="Courier New"/>
              </a:rPr>
              <a:t>i</a:t>
            </a:r>
            <a:r>
              <a:rPr b="0" lang="en-IE" sz="2800" spc="-1" strike="noStrike">
                <a:solidFill>
                  <a:srgbClr val="000000"/>
                </a:solidFill>
                <a:latin typeface="Arial"/>
              </a:rPr>
              <a:t> as an index name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16F26E7-6E6D-47B4-BFE5-9EBD9129C2BD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7720" y="365040"/>
            <a:ext cx="10512360" cy="132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4c6c"/>
                </a:solidFill>
                <a:latin typeface="Arial"/>
                <a:ea typeface="DejaVu Sans"/>
              </a:rPr>
              <a:t>Summary</a:t>
            </a:r>
            <a:endParaRPr b="0" lang="en-IE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25840" y="1260000"/>
            <a:ext cx="10512360" cy="43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IoT devices produce huge quantities of data, so it can be useful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know some basic data analysis techniques to deal with them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Terminology like the four big Vs or data in motion/rest/use are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important, even if they seem trivial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Pandas and NumPy are the workhorse of the data analysis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world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Statistical and machine learning terms are important as well</a:t>
            </a:r>
            <a:endParaRPr b="0" lang="en-I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6E79F56-6047-41C4-B59A-639C8C9815BF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610120" y="638820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CCDD9B-B906-43C2-BAC3-1E97E22862F6}" type="slidenum">
              <a:rPr b="1" lang="en-GB" sz="1600" spc="-1" strike="noStrike">
                <a:solidFill>
                  <a:srgbClr val="fafbfd"/>
                </a:solidFill>
                <a:latin typeface="Arial"/>
                <a:ea typeface="DejaVu Sans"/>
              </a:rPr>
              <a:t>25</a:t>
            </a:fld>
            <a:endParaRPr b="0" lang="en-IE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 117"/>
          <p:cNvSpPr/>
          <p:nvPr/>
        </p:nvSpPr>
        <p:spPr>
          <a:xfrm>
            <a:off x="1619640" y="2160000"/>
            <a:ext cx="8817120" cy="162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That’s all for this week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IE" sz="3600" spc="-1" strike="noStrike">
                <a:solidFill>
                  <a:srgbClr val="ffffff"/>
                </a:solidFill>
                <a:latin typeface="Arial"/>
                <a:ea typeface="DejaVu Sans"/>
              </a:rPr>
              <a:t>Thanks for your attention!</a:t>
            </a:r>
            <a:endParaRPr b="0" lang="en-IE" sz="3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2025-01-27T13:51:31Z</dcterms:created>
  <dc:creator/>
  <dc:description/>
  <dc:language>en-IE</dc:language>
  <cp:lastModifiedBy/>
  <dcterms:modified xsi:type="dcterms:W3CDTF">2025-10-22T12:49:30Z</dcterms:modified>
  <cp:revision>211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