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jpeg" ContentType="image/jpe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slides/_rels/slide21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20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2.xml.rels" ContentType="application/vnd.openxmlformats-package.relationships+xml"/>
  <Override PartName="/ppt/slides/_rels/slide16.xml.rels" ContentType="application/vnd.openxmlformats-package.relationships+xml"/>
  <Override PartName="/ppt/slides/_rels/slide1.xml.rels" ContentType="application/vnd.openxmlformats-package.relationships+xml"/>
  <Override PartName="/ppt/slides/_rels/slide14.xml.rels" ContentType="application/vnd.openxmlformats-package.relationships+xml"/>
  <Override PartName="/ppt/slides/_rels/slide26.xml.rels" ContentType="application/vnd.openxmlformats-package.relationships+xml"/>
  <Override PartName="/ppt/slides/_rels/slide15.xml.rels" ContentType="application/vnd.openxmlformats-package.relationships+xml"/>
  <Override PartName="/ppt/slides/_rels/slide27.xml.rels" ContentType="application/vnd.openxmlformats-package.relationships+xml"/>
  <Override PartName="/ppt/slides/_rels/slide13.xml.rels" ContentType="application/vnd.openxmlformats-package.relationships+xml"/>
  <Override PartName="/ppt/slides/_rels/slide25.xml.rels" ContentType="application/vnd.openxmlformats-package.relationships+xml"/>
  <Override PartName="/ppt/slides/_rels/slide12.xml.rels" ContentType="application/vnd.openxmlformats-package.relationships+xml"/>
  <Override PartName="/ppt/slides/_rels/slide24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23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22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25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24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23.xml" ContentType="application/vnd.openxmlformats-officedocument.presentationml.slide+xml"/>
  <Override PartName="/ppt/slides/slide6.xml" ContentType="application/vnd.openxmlformats-officedocument.presentationml.slide+xml"/>
  <Override PartName="/ppt/slides/slide22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1.xml" ContentType="application/vnd.openxmlformats-officedocument.presentationml.slide+xml"/>
  <Override PartName="/ppt/notesSlides/_rels/notesSlide26.xml.rels" ContentType="application/vnd.openxmlformats-package.relationships+xml"/>
  <Override PartName="/ppt/notesSlides/_rels/notesSlide25.xml.rels" ContentType="application/vnd.openxmlformats-package.relationships+xml"/>
  <Override PartName="/ppt/notesSlides/_rels/notesSlide24.xml.rels" ContentType="application/vnd.openxmlformats-package.relationships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</p:sldMasterIdLst>
  <p:notesMasterIdLst>
    <p:notesMasterId r:id="rId12"/>
  </p:notes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  <p:sldId id="272" r:id="rId29"/>
    <p:sldId id="273" r:id="rId30"/>
    <p:sldId id="274" r:id="rId31"/>
    <p:sldId id="275" r:id="rId32"/>
    <p:sldId id="276" r:id="rId33"/>
    <p:sldId id="277" r:id="rId34"/>
    <p:sldId id="278" r:id="rId35"/>
    <p:sldId id="279" r:id="rId36"/>
    <p:sldId id="280" r:id="rId37"/>
    <p:sldId id="281" r:id="rId38"/>
    <p:sldId id="282" r:id="rId39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notesMaster" Target="notesMasters/notes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0" Type="http://schemas.openxmlformats.org/officeDocument/2006/relationships/slide" Target="slides/slide18.xml"/><Relationship Id="rId31" Type="http://schemas.openxmlformats.org/officeDocument/2006/relationships/slide" Target="slides/slide19.xml"/><Relationship Id="rId32" Type="http://schemas.openxmlformats.org/officeDocument/2006/relationships/slide" Target="slides/slide20.xml"/><Relationship Id="rId33" Type="http://schemas.openxmlformats.org/officeDocument/2006/relationships/slide" Target="slides/slide21.xml"/><Relationship Id="rId34" Type="http://schemas.openxmlformats.org/officeDocument/2006/relationships/slide" Target="slides/slide22.xml"/><Relationship Id="rId35" Type="http://schemas.openxmlformats.org/officeDocument/2006/relationships/slide" Target="slides/slide23.xml"/><Relationship Id="rId36" Type="http://schemas.openxmlformats.org/officeDocument/2006/relationships/slide" Target="slides/slide24.xml"/><Relationship Id="rId37" Type="http://schemas.openxmlformats.org/officeDocument/2006/relationships/slide" Target="slides/slide25.xml"/><Relationship Id="rId38" Type="http://schemas.openxmlformats.org/officeDocument/2006/relationships/slide" Target="slides/slide26.xml"/><Relationship Id="rId39" Type="http://schemas.openxmlformats.org/officeDocument/2006/relationships/slide" Target="slides/slide27.xml"/><Relationship Id="rId4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1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IE" sz="44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IE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IE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IE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IE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IE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 type="dt" idx="3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I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IE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E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 type="ftr" idx="3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I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E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E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" name="PlaceHolder 6"/>
          <p:cNvSpPr>
            <a:spLocks noGrp="1"/>
          </p:cNvSpPr>
          <p:nvPr>
            <p:ph type="sldNum" idx="3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I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64BEEFAC-6BA3-4A33-8BB6-8BC7A05070BB}" type="slidenum">
              <a:rPr b="0" lang="en-IE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IE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sldImg"/>
          </p:nvPr>
        </p:nvSpPr>
        <p:spPr>
          <a:xfrm>
            <a:off x="756000" y="1336320"/>
            <a:ext cx="6045480" cy="3606120"/>
          </a:xfrm>
          <a:prstGeom prst="rect">
            <a:avLst/>
          </a:prstGeom>
          <a:ln w="0">
            <a:noFill/>
          </a:ln>
        </p:spPr>
      </p:sp>
      <p:sp>
        <p:nvSpPr>
          <p:cNvPr id="134" name="PlaceHolder 2"/>
          <p:cNvSpPr>
            <a:spLocks noGrp="1"/>
          </p:cNvSpPr>
          <p:nvPr>
            <p:ph type="body"/>
          </p:nvPr>
        </p:nvSpPr>
        <p:spPr>
          <a:xfrm>
            <a:off x="756000" y="5145480"/>
            <a:ext cx="6045480" cy="4207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PlaceHolder 3"/>
          <p:cNvSpPr>
            <a:spLocks noGrp="1"/>
          </p:cNvSpPr>
          <p:nvPr>
            <p:ph type="sldNum" idx="34"/>
          </p:nvPr>
        </p:nvSpPr>
        <p:spPr>
          <a:xfrm>
            <a:off x="4282200" y="10155600"/>
            <a:ext cx="3273480" cy="533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pc="-1" strike="noStrike">
                <a:solidFill>
                  <a:srgbClr val="000000"/>
                </a:solidFill>
                <a:latin typeface="Times New Roman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E135FFA-AD11-4C9E-A964-C7F49959C1F0}" type="slidenum">
              <a:rPr b="0" lang="en-GB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&lt;number&gt;</a:t>
            </a:fld>
            <a:endParaRPr b="0" lang="en-IE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sldImg"/>
          </p:nvPr>
        </p:nvSpPr>
        <p:spPr>
          <a:xfrm>
            <a:off x="756000" y="1336320"/>
            <a:ext cx="6045480" cy="3606120"/>
          </a:xfrm>
          <a:prstGeom prst="rect">
            <a:avLst/>
          </a:prstGeom>
          <a:ln w="0">
            <a:noFill/>
          </a:ln>
        </p:spPr>
      </p:sp>
      <p:sp>
        <p:nvSpPr>
          <p:cNvPr id="137" name="PlaceHolder 2"/>
          <p:cNvSpPr>
            <a:spLocks noGrp="1"/>
          </p:cNvSpPr>
          <p:nvPr>
            <p:ph type="body"/>
          </p:nvPr>
        </p:nvSpPr>
        <p:spPr>
          <a:xfrm>
            <a:off x="756000" y="5145480"/>
            <a:ext cx="6045480" cy="4207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PlaceHolder 3"/>
          <p:cNvSpPr>
            <a:spLocks noGrp="1"/>
          </p:cNvSpPr>
          <p:nvPr>
            <p:ph type="sldNum" idx="35"/>
          </p:nvPr>
        </p:nvSpPr>
        <p:spPr>
          <a:xfrm>
            <a:off x="4282200" y="10155600"/>
            <a:ext cx="3273480" cy="533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pc="-1" strike="noStrike">
                <a:solidFill>
                  <a:srgbClr val="000000"/>
                </a:solidFill>
                <a:latin typeface="Times New Roman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E123E8F-DDF2-4B02-801A-2E7779D3CF5B}" type="slidenum">
              <a:rPr b="0" lang="en-GB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&lt;number&gt;</a:t>
            </a:fld>
            <a:endParaRPr b="0" lang="en-IE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sldImg"/>
          </p:nvPr>
        </p:nvSpPr>
        <p:spPr>
          <a:xfrm>
            <a:off x="756000" y="1336320"/>
            <a:ext cx="6045480" cy="3606120"/>
          </a:xfrm>
          <a:prstGeom prst="rect">
            <a:avLst/>
          </a:prstGeom>
          <a:ln w="0">
            <a:noFill/>
          </a:ln>
        </p:spPr>
      </p:sp>
      <p:sp>
        <p:nvSpPr>
          <p:cNvPr id="140" name="PlaceHolder 2"/>
          <p:cNvSpPr>
            <a:spLocks noGrp="1"/>
          </p:cNvSpPr>
          <p:nvPr>
            <p:ph type="body"/>
          </p:nvPr>
        </p:nvSpPr>
        <p:spPr>
          <a:xfrm>
            <a:off x="756000" y="5145480"/>
            <a:ext cx="6045480" cy="4207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PlaceHolder 3"/>
          <p:cNvSpPr>
            <a:spLocks noGrp="1"/>
          </p:cNvSpPr>
          <p:nvPr>
            <p:ph type="sldNum" idx="36"/>
          </p:nvPr>
        </p:nvSpPr>
        <p:spPr>
          <a:xfrm>
            <a:off x="4282200" y="10155600"/>
            <a:ext cx="3273480" cy="533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pc="-1" strike="noStrike">
                <a:solidFill>
                  <a:srgbClr val="000000"/>
                </a:solidFill>
                <a:latin typeface="Times New Roman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B691C1C-CA5E-494D-9DFB-228B306320E5}" type="slidenum">
              <a:rPr b="0" lang="en-GB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&lt;number&gt;</a:t>
            </a:fld>
            <a:endParaRPr b="0" lang="en-IE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E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E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FED8160-AD41-4A79-B613-F0F37FFF750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E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E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E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41D600FB-EAF4-4209-B15E-22C93E23B73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IE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E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E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39DDB750-1DE3-4AA7-91AC-269A8FD3931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IE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E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E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D26D22E7-45F4-44C5-A07A-8E1D6198957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IE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970AAA6E-7257-4D14-827E-26023CE314D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IE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E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E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278338ED-667C-4C33-B22B-7745F3DEC77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IE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_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E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E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4F9B200B-CF62-4455-A009-83C58C20C0E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n-IE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Blank w colo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E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E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244776AE-C93D-4650-A4D7-79E42C48CF6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n-IE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2526A5D2-82B3-4AE9-B2DE-B878E646AEF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en-IE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__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E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E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744371CA-5F3B-4D79-86DF-AEB925872EF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en-IE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1"/>
          </p:nvPr>
        </p:nvSpPr>
        <p:spPr>
          <a:xfrm>
            <a:off x="4038120" y="6388200"/>
            <a:ext cx="41122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IE" sz="1400" spc="-1" strike="noStrike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E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&lt;footer&gt;</a:t>
            </a:r>
            <a:endParaRPr b="0" lang="en-IE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2"/>
          </p:nvPr>
        </p:nvSpPr>
        <p:spPr>
          <a:xfrm>
            <a:off x="8610120" y="638820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1" lang="en-GB" sz="1600" spc="-1" strike="noStrike">
                <a:solidFill>
                  <a:srgbClr val="fafbfd"/>
                </a:solidFill>
                <a:latin typeface="Arial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0C13002-7172-488D-96FD-8BC3D184265A}" type="slidenum">
              <a:rPr b="1" lang="en-GB" sz="1600" spc="-1" strike="noStrike">
                <a:solidFill>
                  <a:srgbClr val="fafbfd"/>
                </a:solidFill>
                <a:latin typeface="Arial"/>
                <a:ea typeface="DejaVu Sans"/>
              </a:rPr>
              <a:t>&lt;number&gt;</a:t>
            </a:fld>
            <a:endParaRPr b="0" lang="en-IE" sz="16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dt" idx="3"/>
          </p:nvPr>
        </p:nvSpPr>
        <p:spPr>
          <a:xfrm>
            <a:off x="837720" y="638820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E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E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ftr" idx="4"/>
          </p:nvPr>
        </p:nvSpPr>
        <p:spPr>
          <a:xfrm>
            <a:off x="4038120" y="6388200"/>
            <a:ext cx="41122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IE" sz="1400" spc="-1" strike="noStrike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E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&lt;footer&gt;</a:t>
            </a:r>
            <a:endParaRPr b="0" lang="en-IE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sldNum" idx="5"/>
          </p:nvPr>
        </p:nvSpPr>
        <p:spPr>
          <a:xfrm>
            <a:off x="8610120" y="638820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1" lang="en-GB" sz="1600" spc="-1" strike="noStrike">
                <a:solidFill>
                  <a:srgbClr val="fafbfd"/>
                </a:solidFill>
                <a:latin typeface="Arial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0158F3E-50BE-4620-8F78-12EB7C3A8CB3}" type="slidenum">
              <a:rPr b="1" lang="en-GB" sz="1600" spc="-1" strike="noStrike">
                <a:solidFill>
                  <a:srgbClr val="fafbfd"/>
                </a:solidFill>
                <a:latin typeface="Arial"/>
                <a:ea typeface="DejaVu Sans"/>
              </a:rPr>
              <a:t>&lt;number&gt;</a:t>
            </a:fld>
            <a:endParaRPr b="0" lang="en-IE" sz="16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dt" idx="6"/>
          </p:nvPr>
        </p:nvSpPr>
        <p:spPr>
          <a:xfrm>
            <a:off x="837720" y="638820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E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E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E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E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E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E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E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E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E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E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E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E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E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E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E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E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6"/>
          <p:cNvSpPr/>
          <p:nvPr/>
        </p:nvSpPr>
        <p:spPr>
          <a:xfrm>
            <a:off x="0" y="6311880"/>
            <a:ext cx="12189240" cy="543600"/>
          </a:xfrm>
          <a:prstGeom prst="rect">
            <a:avLst/>
          </a:prstGeom>
          <a:solidFill>
            <a:srgbClr val="00a9b7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IE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ftr" idx="7"/>
          </p:nvPr>
        </p:nvSpPr>
        <p:spPr>
          <a:xfrm>
            <a:off x="4038120" y="6388200"/>
            <a:ext cx="41122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IE" sz="1400" spc="-1" strike="noStrike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E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&lt;footer&gt;</a:t>
            </a:r>
            <a:endParaRPr b="0" lang="en-IE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sldNum" idx="8"/>
          </p:nvPr>
        </p:nvSpPr>
        <p:spPr>
          <a:xfrm>
            <a:off x="8610120" y="638820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1" lang="en-GB" sz="1600" spc="-1" strike="noStrike">
                <a:solidFill>
                  <a:srgbClr val="fafbfd"/>
                </a:solidFill>
                <a:latin typeface="Arial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666ADB9-DB85-4B63-B888-A18917349AE5}" type="slidenum">
              <a:rPr b="1" lang="en-GB" sz="1600" spc="-1" strike="noStrike">
                <a:solidFill>
                  <a:srgbClr val="fafbfd"/>
                </a:solidFill>
                <a:latin typeface="Arial"/>
                <a:ea typeface="DejaVu Sans"/>
              </a:rPr>
              <a:t>&lt;number&gt;</a:t>
            </a:fld>
            <a:endParaRPr b="0" lang="en-IE" sz="16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5"/>
          <p:cNvSpPr>
            <a:spLocks noGrp="1"/>
          </p:cNvSpPr>
          <p:nvPr>
            <p:ph type="dt" idx="9"/>
          </p:nvPr>
        </p:nvSpPr>
        <p:spPr>
          <a:xfrm>
            <a:off x="837720" y="638820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E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E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ftr" idx="10"/>
          </p:nvPr>
        </p:nvSpPr>
        <p:spPr>
          <a:xfrm>
            <a:off x="4038120" y="6388200"/>
            <a:ext cx="41122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IE" sz="1400" spc="-1" strike="noStrike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E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&lt;footer&gt;</a:t>
            </a:r>
            <a:endParaRPr b="0" lang="en-IE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sldNum" idx="11"/>
          </p:nvPr>
        </p:nvSpPr>
        <p:spPr>
          <a:xfrm>
            <a:off x="8610120" y="638820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1" lang="en-GB" sz="1600" spc="-1" strike="noStrike">
                <a:solidFill>
                  <a:srgbClr val="7c96cb"/>
                </a:solidFill>
                <a:latin typeface="Arial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B3C10C0-EDAC-4EC7-BC7A-2B0ABC49B90B}" type="slidenum">
              <a:rPr b="1" lang="en-GB" sz="1600" spc="-1" strike="noStrike">
                <a:solidFill>
                  <a:srgbClr val="7c96cb"/>
                </a:solidFill>
                <a:latin typeface="Arial"/>
                <a:ea typeface="DejaVu Sans"/>
              </a:rPr>
              <a:t>&lt;number&gt;</a:t>
            </a:fld>
            <a:endParaRPr b="0" lang="en-IE" sz="16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dt" idx="12"/>
          </p:nvPr>
        </p:nvSpPr>
        <p:spPr>
          <a:xfrm>
            <a:off x="837720" y="638820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E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E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ftr" idx="13"/>
          </p:nvPr>
        </p:nvSpPr>
        <p:spPr>
          <a:xfrm>
            <a:off x="4038120" y="6388200"/>
            <a:ext cx="41122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IE" sz="1400" spc="-1" strike="noStrike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E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&lt;footer&gt;</a:t>
            </a:r>
            <a:endParaRPr b="0" lang="en-IE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sldNum" idx="14"/>
          </p:nvPr>
        </p:nvSpPr>
        <p:spPr>
          <a:xfrm>
            <a:off x="8610120" y="638820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1" lang="en-GB" sz="1600" spc="-1" strike="noStrike">
                <a:solidFill>
                  <a:srgbClr val="7c96cb"/>
                </a:solidFill>
                <a:latin typeface="Arial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5E5B5A0-F519-4E05-B529-20AB498D2D0F}" type="slidenum">
              <a:rPr b="1" lang="en-GB" sz="1600" spc="-1" strike="noStrike">
                <a:solidFill>
                  <a:srgbClr val="7c96cb"/>
                </a:solidFill>
                <a:latin typeface="Arial"/>
                <a:ea typeface="DejaVu Sans"/>
              </a:rPr>
              <a:t>&lt;number&gt;</a:t>
            </a:fld>
            <a:endParaRPr b="0" lang="en-IE" sz="16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dt" idx="15"/>
          </p:nvPr>
        </p:nvSpPr>
        <p:spPr>
          <a:xfrm>
            <a:off x="837720" y="638820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E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E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IE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IE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E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E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E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E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E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E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E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E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E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E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E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E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E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E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6"/>
          <p:cNvSpPr/>
          <p:nvPr/>
        </p:nvSpPr>
        <p:spPr>
          <a:xfrm>
            <a:off x="0" y="6311880"/>
            <a:ext cx="12189240" cy="543600"/>
          </a:xfrm>
          <a:prstGeom prst="rect">
            <a:avLst/>
          </a:prstGeom>
          <a:solidFill>
            <a:srgbClr val="00a9b7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IE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ftr" idx="16"/>
          </p:nvPr>
        </p:nvSpPr>
        <p:spPr>
          <a:xfrm>
            <a:off x="4038120" y="6388200"/>
            <a:ext cx="41122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IE" sz="1400" spc="-1" strike="noStrike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E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&lt;footer&gt;</a:t>
            </a:r>
            <a:endParaRPr b="0" lang="en-IE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sldNum" idx="17"/>
          </p:nvPr>
        </p:nvSpPr>
        <p:spPr>
          <a:xfrm>
            <a:off x="8610120" y="638820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1" lang="en-GB" sz="1600" spc="-1" strike="noStrike">
                <a:solidFill>
                  <a:srgbClr val="fafbfd"/>
                </a:solidFill>
                <a:latin typeface="Arial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AB2F376-DC39-4B62-A234-9B981A621B36}" type="slidenum">
              <a:rPr b="1" lang="en-GB" sz="1600" spc="-1" strike="noStrike">
                <a:solidFill>
                  <a:srgbClr val="fafbfd"/>
                </a:solidFill>
                <a:latin typeface="Arial"/>
                <a:ea typeface="DejaVu Sans"/>
              </a:rPr>
              <a:t>&lt;number&gt;</a:t>
            </a:fld>
            <a:endParaRPr b="0" lang="en-IE" sz="16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 type="dt" idx="18"/>
          </p:nvPr>
        </p:nvSpPr>
        <p:spPr>
          <a:xfrm>
            <a:off x="837720" y="638820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E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E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6"/>
          <p:cNvSpPr/>
          <p:nvPr/>
        </p:nvSpPr>
        <p:spPr>
          <a:xfrm>
            <a:off x="0" y="6311880"/>
            <a:ext cx="12189240" cy="543600"/>
          </a:xfrm>
          <a:prstGeom prst="rect">
            <a:avLst/>
          </a:prstGeom>
          <a:solidFill>
            <a:srgbClr val="00a9b7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IE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ftr" idx="19"/>
          </p:nvPr>
        </p:nvSpPr>
        <p:spPr>
          <a:xfrm>
            <a:off x="4038120" y="6388200"/>
            <a:ext cx="41122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IE" sz="1400" spc="-1" strike="noStrike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E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&lt;footer&gt;</a:t>
            </a:r>
            <a:endParaRPr b="0" lang="en-IE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 type="sldNum" idx="20"/>
          </p:nvPr>
        </p:nvSpPr>
        <p:spPr>
          <a:xfrm>
            <a:off x="8610120" y="638820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1" lang="en-GB" sz="1600" spc="-1" strike="noStrike">
                <a:solidFill>
                  <a:srgbClr val="fafbfd"/>
                </a:solidFill>
                <a:latin typeface="Arial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4030AC6-618E-412B-A490-07D82A3CF0A9}" type="slidenum">
              <a:rPr b="1" lang="en-GB" sz="1600" spc="-1" strike="noStrike">
                <a:solidFill>
                  <a:srgbClr val="fafbfd"/>
                </a:solidFill>
                <a:latin typeface="Arial"/>
                <a:ea typeface="DejaVu Sans"/>
              </a:rPr>
              <a:t>&lt;number&gt;</a:t>
            </a:fld>
            <a:endParaRPr b="0" lang="en-IE" sz="16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5"/>
          <p:cNvSpPr>
            <a:spLocks noGrp="1"/>
          </p:cNvSpPr>
          <p:nvPr>
            <p:ph type="dt" idx="21"/>
          </p:nvPr>
        </p:nvSpPr>
        <p:spPr>
          <a:xfrm>
            <a:off x="837720" y="638820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E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E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b600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IE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IE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E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IE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IE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IE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E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IE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IE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IE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E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IE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E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IE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E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IE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ftr" idx="22"/>
          </p:nvPr>
        </p:nvSpPr>
        <p:spPr>
          <a:xfrm>
            <a:off x="4038120" y="6388200"/>
            <a:ext cx="41122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IE" sz="1400" spc="-1" strike="noStrike">
                <a:solidFill>
                  <a:srgbClr val="ffffff"/>
                </a:solidFill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E" sz="1400" spc="-1" strike="noStrike">
                <a:solidFill>
                  <a:srgbClr val="ffffff"/>
                </a:solidFill>
                <a:latin typeface="Times New Roman"/>
                <a:ea typeface="DejaVu Sans"/>
              </a:rPr>
              <a:t>&lt;footer&gt;</a:t>
            </a:r>
            <a:endParaRPr b="0" lang="en-IE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sldNum" idx="23"/>
          </p:nvPr>
        </p:nvSpPr>
        <p:spPr>
          <a:xfrm>
            <a:off x="8610120" y="638820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1" lang="en-GB" sz="1600" spc="-1" strike="noStrike">
                <a:solidFill>
                  <a:srgbClr val="fafbfd"/>
                </a:solidFill>
                <a:latin typeface="Arial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966A015-3105-44D2-8631-23B3C320A51A}" type="slidenum">
              <a:rPr b="1" lang="en-GB" sz="1600" spc="-1" strike="noStrike">
                <a:solidFill>
                  <a:srgbClr val="fafbfd"/>
                </a:solidFill>
                <a:latin typeface="Arial"/>
                <a:ea typeface="DejaVu Sans"/>
              </a:rPr>
              <a:t>&lt;number&gt;</a:t>
            </a:fld>
            <a:endParaRPr b="0" lang="en-IE" sz="16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dt" idx="24"/>
          </p:nvPr>
        </p:nvSpPr>
        <p:spPr>
          <a:xfrm>
            <a:off x="837720" y="638820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E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E" sz="1400" spc="-1" strike="noStrike">
                <a:solidFill>
                  <a:srgbClr val="ffffff"/>
                </a:solidFill>
                <a:latin typeface="Times New Roman"/>
              </a:rPr>
              <a:t>&lt;date/time&gt;</a:t>
            </a:r>
            <a:endParaRPr b="0" lang="en-IE" sz="14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b600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ftr" idx="25"/>
          </p:nvPr>
        </p:nvSpPr>
        <p:spPr>
          <a:xfrm>
            <a:off x="4038120" y="6388200"/>
            <a:ext cx="41122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IE" sz="1400" spc="-1" strike="noStrike">
                <a:solidFill>
                  <a:srgbClr val="ffffff"/>
                </a:solidFill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E" sz="1400" spc="-1" strike="noStrike">
                <a:solidFill>
                  <a:srgbClr val="ffffff"/>
                </a:solidFill>
                <a:latin typeface="Times New Roman"/>
                <a:ea typeface="DejaVu Sans"/>
              </a:rPr>
              <a:t>&lt;footer&gt;</a:t>
            </a:r>
            <a:endParaRPr b="0" lang="en-IE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sldNum" idx="26"/>
          </p:nvPr>
        </p:nvSpPr>
        <p:spPr>
          <a:xfrm>
            <a:off x="8610120" y="638820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1" lang="en-GB" sz="1600" spc="-1" strike="noStrike">
                <a:solidFill>
                  <a:srgbClr val="fafbfd"/>
                </a:solidFill>
                <a:latin typeface="Arial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40C56D0-B727-4379-ACD3-004466C3B1A8}" type="slidenum">
              <a:rPr b="1" lang="en-GB" sz="1600" spc="-1" strike="noStrike">
                <a:solidFill>
                  <a:srgbClr val="fafbfd"/>
                </a:solidFill>
                <a:latin typeface="Arial"/>
                <a:ea typeface="DejaVu Sans"/>
              </a:rPr>
              <a:t>&lt;number&gt;</a:t>
            </a:fld>
            <a:endParaRPr b="0" lang="en-IE" sz="16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dt" idx="27"/>
          </p:nvPr>
        </p:nvSpPr>
        <p:spPr>
          <a:xfrm>
            <a:off x="837720" y="638820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E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E" sz="1400" spc="-1" strike="noStrike">
                <a:solidFill>
                  <a:srgbClr val="ffffff"/>
                </a:solidFill>
                <a:latin typeface="Times New Roman"/>
              </a:rPr>
              <a:t>&lt;date/time&gt;</a:t>
            </a:r>
            <a:endParaRPr b="0" lang="en-IE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IE" sz="44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IE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E" sz="32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IE" sz="32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IE" sz="2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IE" sz="2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E" sz="24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IE" sz="24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IE" sz="20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IE" sz="20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E" sz="20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IE" sz="20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E" sz="20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IE" sz="20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E" sz="20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IE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Rectangle 6"/>
          <p:cNvSpPr/>
          <p:nvPr/>
        </p:nvSpPr>
        <p:spPr>
          <a:xfrm>
            <a:off x="0" y="6311880"/>
            <a:ext cx="12189240" cy="543600"/>
          </a:xfrm>
          <a:prstGeom prst="rect">
            <a:avLst/>
          </a:prstGeom>
          <a:solidFill>
            <a:srgbClr val="00a9b7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IE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ftr" idx="28"/>
          </p:nvPr>
        </p:nvSpPr>
        <p:spPr>
          <a:xfrm>
            <a:off x="4038120" y="6388200"/>
            <a:ext cx="41122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IE" sz="1400" spc="-1" strike="noStrike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E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&lt;footer&gt;</a:t>
            </a:r>
            <a:endParaRPr b="0" lang="en-IE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sldNum" idx="29"/>
          </p:nvPr>
        </p:nvSpPr>
        <p:spPr>
          <a:xfrm>
            <a:off x="8610120" y="638820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1" lang="en-GB" sz="1600" spc="-1" strike="noStrike">
                <a:solidFill>
                  <a:srgbClr val="fafbfd"/>
                </a:solidFill>
                <a:latin typeface="Arial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AF7511C-2599-421E-8413-7B9F4534400C}" type="slidenum">
              <a:rPr b="1" lang="en-GB" sz="1600" spc="-1" strike="noStrike">
                <a:solidFill>
                  <a:srgbClr val="fafbfd"/>
                </a:solidFill>
                <a:latin typeface="Arial"/>
                <a:ea typeface="DejaVu Sans"/>
              </a:rPr>
              <a:t>&lt;number&gt;</a:t>
            </a:fld>
            <a:endParaRPr b="0" lang="en-IE" sz="16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" name="PlaceHolder 5"/>
          <p:cNvSpPr>
            <a:spLocks noGrp="1"/>
          </p:cNvSpPr>
          <p:nvPr>
            <p:ph type="dt" idx="30"/>
          </p:nvPr>
        </p:nvSpPr>
        <p:spPr>
          <a:xfrm>
            <a:off x="837720" y="638820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E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E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hyperlink" Target="https://formaestudio.com/rijndaelinspector/archivos/Rijndael_Animation_v4_eng-html5.html" TargetMode="External"/><Relationship Id="rId2" Type="http://schemas.openxmlformats.org/officeDocument/2006/relationships/slideLayout" Target="../slideLayouts/slideLayout6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7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7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7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846360" y="3198240"/>
            <a:ext cx="8061480" cy="13086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IE" sz="4000" spc="-1" strike="noStrike">
                <a:solidFill>
                  <a:srgbClr val="fafbfd"/>
                </a:solidFill>
                <a:latin typeface="Arial"/>
                <a:ea typeface="Open sans"/>
              </a:rPr>
              <a:t>Week 5</a:t>
            </a:r>
            <a:br>
              <a:rPr sz="4000"/>
            </a:br>
            <a:r>
              <a:rPr b="1" lang="en-IE" sz="4000" spc="-1" strike="noStrike">
                <a:solidFill>
                  <a:srgbClr val="fafbfd"/>
                </a:solidFill>
                <a:latin typeface="Arial"/>
                <a:ea typeface="Open sans"/>
              </a:rPr>
              <a:t>Security</a:t>
            </a:r>
            <a:endParaRPr b="0" lang="en-IE" sz="4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" name="TextBox 2"/>
          <p:cNvSpPr/>
          <p:nvPr/>
        </p:nvSpPr>
        <p:spPr>
          <a:xfrm>
            <a:off x="398520" y="5792400"/>
            <a:ext cx="6560640" cy="88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600" spc="-1" strike="noStrike">
                <a:solidFill>
                  <a:srgbClr val="fafbfd"/>
                </a:solidFill>
                <a:latin typeface="Open sans"/>
                <a:ea typeface="DejaVu Sans"/>
              </a:rPr>
              <a:t>Fundamentals of IoT</a:t>
            </a:r>
            <a:endParaRPr b="0" lang="en-IE" sz="26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2600" spc="-1" strike="noStrike">
                <a:solidFill>
                  <a:srgbClr val="fafbfd"/>
                </a:solidFill>
                <a:latin typeface="Open sans"/>
                <a:ea typeface="DejaVu Sans"/>
              </a:rPr>
              <a:t>Dr. Eoin Rogers (eoin.rogers@tudublin.ie)</a:t>
            </a:r>
            <a:endParaRPr b="0" lang="en-IE" sz="26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837720" y="365040"/>
            <a:ext cx="10512720" cy="132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004c6c"/>
                </a:solidFill>
                <a:latin typeface="Arial"/>
                <a:ea typeface="DejaVu Sans"/>
              </a:rPr>
              <a:t>Lesson Outline</a:t>
            </a:r>
            <a:endParaRPr b="0" lang="en-IE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/>
          </p:nvPr>
        </p:nvSpPr>
        <p:spPr>
          <a:xfrm>
            <a:off x="837720" y="1825560"/>
            <a:ext cx="10512720" cy="4348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Why is security important?</a:t>
            </a:r>
            <a:endParaRPr b="0" lang="en-IE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How can we implement secure IoT devices</a:t>
            </a:r>
            <a:endParaRPr b="0" lang="en-IE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Emphasis on cryptography and other common-sense approaches to dealing with security</a:t>
            </a:r>
            <a:endParaRPr b="0" lang="en-IE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E5CDBE8D-EFC2-438A-98AC-3524FAAF890F}" type="slidenum">
              <a:t>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837720" y="365040"/>
            <a:ext cx="10512720" cy="132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004c6c"/>
                </a:solidFill>
                <a:latin typeface="Arial"/>
                <a:ea typeface="DejaVu Sans"/>
              </a:rPr>
              <a:t>Security in IoT devices</a:t>
            </a:r>
            <a:endParaRPr b="0" lang="en-IE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/>
          </p:nvPr>
        </p:nvSpPr>
        <p:spPr>
          <a:xfrm>
            <a:off x="837720" y="1825560"/>
            <a:ext cx="10512720" cy="4348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6666"/>
          </a:bodyPr>
          <a:p>
            <a:pPr marL="457200" indent="-4572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Security is an essential part of modern networking, but is unfortunately often overlooked by IoT vendors!</a:t>
            </a:r>
            <a:endParaRPr b="0" lang="en-IE" sz="2800" spc="-1" strike="noStrike">
              <a:solidFill>
                <a:srgbClr val="000000"/>
              </a:solidFill>
              <a:latin typeface="Arial"/>
            </a:endParaRPr>
          </a:p>
          <a:p>
            <a:pPr marL="457200" indent="-4572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This has lead to major security breaches:</a:t>
            </a:r>
            <a:endParaRPr b="0" lang="en-IE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 defTabSz="914400">
              <a:lnSpc>
                <a:spcPct val="15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Ring cameras</a:t>
            </a:r>
            <a:endParaRPr b="0" lang="en-IE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 defTabSz="914400">
              <a:lnSpc>
                <a:spcPct val="15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Attacks on St. Jude’s cardiac devices</a:t>
            </a:r>
            <a:endParaRPr b="0" lang="en-IE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 defTabSz="914400">
              <a:lnSpc>
                <a:spcPct val="15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Mirai botnet</a:t>
            </a:r>
            <a:endParaRPr b="0" lang="en-IE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D1B47B32-CCFB-451E-AA90-DCDBAC8DBC82}" type="slidenum">
              <a:t>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831600" y="1709640"/>
            <a:ext cx="10512720" cy="2850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GB" sz="6000" spc="-1" strike="noStrike">
                <a:solidFill>
                  <a:srgbClr val="b60057"/>
                </a:solidFill>
                <a:latin typeface="Arial"/>
                <a:ea typeface="DejaVu Sans"/>
              </a:rPr>
              <a:t>Basic security practices</a:t>
            </a:r>
            <a:endParaRPr b="0" lang="en-IE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831600" y="4589640"/>
            <a:ext cx="10512720" cy="149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5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8b8b8b"/>
                </a:solidFill>
                <a:latin typeface="Arial"/>
                <a:ea typeface="DejaVu Sans"/>
              </a:rPr>
              <a:t>By following certain practices, we can increase the security of our devices</a:t>
            </a:r>
            <a:endParaRPr b="0" lang="en-I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DC518B94-B853-471D-A22B-1F55B7C75B29}" type="slidenum">
              <a:t>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837720" y="365040"/>
            <a:ext cx="10512720" cy="132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004c6c"/>
                </a:solidFill>
                <a:latin typeface="Arial"/>
                <a:ea typeface="DejaVu Sans"/>
              </a:rPr>
              <a:t>Common IoT security issues</a:t>
            </a:r>
            <a:endParaRPr b="0" lang="en-IE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/>
          </p:nvPr>
        </p:nvSpPr>
        <p:spPr>
          <a:xfrm>
            <a:off x="837720" y="1620000"/>
            <a:ext cx="5281920" cy="4348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57200" indent="-4572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Default passwords</a:t>
            </a:r>
            <a:endParaRPr b="0" lang="en-IE" sz="2800" spc="-1" strike="noStrike">
              <a:solidFill>
                <a:srgbClr val="000000"/>
              </a:solidFill>
              <a:latin typeface="Arial"/>
            </a:endParaRPr>
          </a:p>
          <a:p>
            <a:pPr marL="457200" indent="-4572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Single level of access control</a:t>
            </a:r>
            <a:endParaRPr b="0" lang="en-IE" sz="2800" spc="-1" strike="noStrike">
              <a:solidFill>
                <a:srgbClr val="000000"/>
              </a:solidFill>
              <a:latin typeface="Arial"/>
            </a:endParaRPr>
          </a:p>
          <a:p>
            <a:pPr marL="457200" indent="-4572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Large attack surfaces</a:t>
            </a:r>
            <a:endParaRPr b="0" lang="en-IE" sz="2800" spc="-1" strike="noStrike">
              <a:solidFill>
                <a:srgbClr val="000000"/>
              </a:solidFill>
              <a:latin typeface="Arial"/>
            </a:endParaRPr>
          </a:p>
          <a:p>
            <a:pPr marL="457200" indent="-4572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Old software</a:t>
            </a:r>
            <a:endParaRPr b="0" lang="en-IE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"/>
          <p:cNvSpPr/>
          <p:nvPr/>
        </p:nvSpPr>
        <p:spPr>
          <a:xfrm>
            <a:off x="6480000" y="1800000"/>
            <a:ext cx="5579640" cy="359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16000" indent="-2160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Lack of encryption</a:t>
            </a:r>
            <a:endParaRPr b="0" lang="en-IE" sz="2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Trusted computing</a:t>
            </a:r>
            <a:endParaRPr b="0" lang="en-IE" sz="2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Poor responses from vendors when intrusions are found</a:t>
            </a:r>
            <a:endParaRPr b="0" lang="en-IE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35462F86-9764-4BE7-9142-1FC02094E241}" type="slidenum">
              <a:t>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837720" y="365040"/>
            <a:ext cx="10512720" cy="132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004c6c"/>
                </a:solidFill>
                <a:latin typeface="Arial"/>
                <a:ea typeface="DejaVu Sans"/>
              </a:rPr>
              <a:t>Default passwords</a:t>
            </a:r>
            <a:endParaRPr b="0" lang="en-IE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837720" y="1825560"/>
            <a:ext cx="10512720" cy="4348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57200" indent="-4572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When a user first logs in, </a:t>
            </a:r>
            <a:r>
              <a:rPr b="1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make them change the password</a:t>
            </a:r>
            <a:r>
              <a:rPr b="0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!</a:t>
            </a:r>
            <a:endParaRPr b="0" lang="en-IE" sz="2800" spc="-1" strike="noStrike">
              <a:solidFill>
                <a:srgbClr val="000000"/>
              </a:solidFill>
              <a:latin typeface="Arial"/>
            </a:endParaRPr>
          </a:p>
          <a:p>
            <a:pPr marL="457200" indent="-4572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Enable </a:t>
            </a:r>
            <a:r>
              <a:rPr b="1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two-factor authentication</a:t>
            </a:r>
            <a:r>
              <a:rPr b="0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 by default</a:t>
            </a:r>
            <a:endParaRPr b="0" lang="en-IE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 defTabSz="914400">
              <a:lnSpc>
                <a:spcPct val="15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Do allow users to disable it, but an important security principle is to </a:t>
            </a:r>
            <a:r>
              <a:rPr b="1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make the defaults secure</a:t>
            </a:r>
            <a:r>
              <a:rPr b="0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 whenever possible!</a:t>
            </a:r>
            <a:endParaRPr b="0" lang="en-IE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BADA4037-B498-4C51-978D-5D9B14483D64}" type="slidenum">
              <a:t>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837720" y="365040"/>
            <a:ext cx="10512720" cy="132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004c6c"/>
                </a:solidFill>
                <a:latin typeface="Arial"/>
                <a:ea typeface="DejaVu Sans"/>
              </a:rPr>
              <a:t>Single level of access control</a:t>
            </a:r>
            <a:endParaRPr b="0" lang="en-IE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/>
          </p:nvPr>
        </p:nvSpPr>
        <p:spPr>
          <a:xfrm>
            <a:off x="837720" y="1825560"/>
            <a:ext cx="10512720" cy="4348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57200" indent="-4572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Seperate </a:t>
            </a:r>
            <a:r>
              <a:rPr b="1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normal</a:t>
            </a:r>
            <a:r>
              <a:rPr b="0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 and </a:t>
            </a:r>
            <a:r>
              <a:rPr b="1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administrative</a:t>
            </a:r>
            <a:r>
              <a:rPr b="0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 users</a:t>
            </a:r>
            <a:endParaRPr b="0" lang="en-IE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 defTabSz="914400">
              <a:lnSpc>
                <a:spcPct val="15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This can be challenging, because IoT devices often have </a:t>
            </a:r>
            <a:r>
              <a:rPr b="1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limited functionality</a:t>
            </a:r>
            <a:r>
              <a:rPr b="0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!</a:t>
            </a:r>
            <a:endParaRPr b="0" lang="en-IE" sz="2800" spc="-1" strike="noStrike">
              <a:solidFill>
                <a:srgbClr val="000000"/>
              </a:solidFill>
              <a:latin typeface="Arial"/>
            </a:endParaRPr>
          </a:p>
          <a:p>
            <a:pPr marL="457200" indent="-4572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Implement stricter security for admin functions and users</a:t>
            </a:r>
            <a:endParaRPr b="0" lang="en-IE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2FE5B32C-7566-46B7-861F-A117B54FFF0A}" type="slidenum">
              <a:t>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837720" y="365040"/>
            <a:ext cx="10512720" cy="132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004c6c"/>
                </a:solidFill>
                <a:latin typeface="Arial"/>
                <a:ea typeface="DejaVu Sans"/>
              </a:rPr>
              <a:t>Minimise attack surfaces</a:t>
            </a:r>
            <a:endParaRPr b="0" lang="en-IE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/>
          </p:nvPr>
        </p:nvSpPr>
        <p:spPr>
          <a:xfrm>
            <a:off x="837720" y="1825560"/>
            <a:ext cx="10512720" cy="4348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57200" indent="-4572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Present </a:t>
            </a:r>
            <a:r>
              <a:rPr b="1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fewer targets</a:t>
            </a:r>
            <a:r>
              <a:rPr b="0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 that an attacker can exploit</a:t>
            </a:r>
            <a:endParaRPr b="0" lang="en-IE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 defTabSz="914400">
              <a:lnSpc>
                <a:spcPct val="15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Do you really need 20 ports open on your IoT device?</a:t>
            </a:r>
            <a:endParaRPr b="0" lang="en-IE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 defTabSz="914400">
              <a:lnSpc>
                <a:spcPct val="15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Do you really need to run a full operating system?</a:t>
            </a:r>
            <a:endParaRPr b="0" lang="en-IE" sz="2800" spc="-1" strike="noStrike">
              <a:solidFill>
                <a:srgbClr val="000000"/>
              </a:solidFill>
              <a:latin typeface="Arial"/>
            </a:endParaRPr>
          </a:p>
          <a:p>
            <a:pPr marL="457200" indent="-4572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You could argue that IoT as a whole is a violation of this principle!</a:t>
            </a:r>
            <a:endParaRPr b="0" lang="en-IE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8499AE98-AB96-41CB-943E-2E84299C8676}" type="slidenum">
              <a:t>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837720" y="365040"/>
            <a:ext cx="10512720" cy="132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004c6c"/>
                </a:solidFill>
                <a:latin typeface="Arial"/>
                <a:ea typeface="DejaVu Sans"/>
              </a:rPr>
              <a:t>Old software</a:t>
            </a:r>
            <a:endParaRPr b="0" lang="en-IE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/>
          </p:nvPr>
        </p:nvSpPr>
        <p:spPr>
          <a:xfrm>
            <a:off x="837720" y="1825560"/>
            <a:ext cx="10512720" cy="4348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57200" indent="-4572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Old software is often filled with </a:t>
            </a:r>
            <a:r>
              <a:rPr b="1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vulnerabilities</a:t>
            </a:r>
            <a:endParaRPr b="0" lang="en-IE" sz="2800" spc="-1" strike="noStrike">
              <a:solidFill>
                <a:srgbClr val="000000"/>
              </a:solidFill>
              <a:latin typeface="Arial"/>
            </a:endParaRPr>
          </a:p>
          <a:p>
            <a:pPr marL="457200" indent="-4572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Only use old software if you are sure it is safe!</a:t>
            </a:r>
            <a:endParaRPr b="0" lang="en-IE" sz="2800" spc="-1" strike="noStrike">
              <a:solidFill>
                <a:srgbClr val="000000"/>
              </a:solidFill>
              <a:latin typeface="Arial"/>
            </a:endParaRPr>
          </a:p>
          <a:p>
            <a:pPr marL="457200" indent="-4572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“</a:t>
            </a:r>
            <a:r>
              <a:rPr b="0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My device is low-end and constrained” is not a very good excuse!</a:t>
            </a:r>
            <a:endParaRPr b="0" lang="en-IE" sz="2800" spc="-1" strike="noStrike">
              <a:solidFill>
                <a:srgbClr val="000000"/>
              </a:solidFill>
              <a:latin typeface="Arial"/>
            </a:endParaRPr>
          </a:p>
          <a:p>
            <a:pPr marL="457200" indent="-4572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Don’t re-invent the wheel</a:t>
            </a:r>
            <a:r>
              <a:rPr b="0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 – writing your own security code makes your system more vulnerable, not less!</a:t>
            </a:r>
            <a:endParaRPr b="0" lang="en-IE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2B384BB1-FEE9-4249-928C-8CB32848353F}" type="slidenum">
              <a:t>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837720" y="365040"/>
            <a:ext cx="10512720" cy="132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004c6c"/>
                </a:solidFill>
                <a:latin typeface="Arial"/>
                <a:ea typeface="DejaVu Sans"/>
              </a:rPr>
              <a:t>Encryption</a:t>
            </a:r>
            <a:endParaRPr b="0" lang="en-IE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/>
          </p:nvPr>
        </p:nvSpPr>
        <p:spPr>
          <a:xfrm>
            <a:off x="837720" y="1825560"/>
            <a:ext cx="10512720" cy="4348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57200" indent="-4572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Try to encrypt anything that could potentially be sensitive or private</a:t>
            </a:r>
            <a:endParaRPr b="0" lang="en-IE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 defTabSz="914400">
              <a:lnSpc>
                <a:spcPct val="15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Maybe even data that isn’t private, in order to protect against </a:t>
            </a:r>
            <a:r>
              <a:rPr b="1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clever side channels or network analysis</a:t>
            </a:r>
            <a:r>
              <a:rPr b="0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!</a:t>
            </a:r>
            <a:endParaRPr b="0" lang="en-IE" sz="2800" spc="-1" strike="noStrike">
              <a:solidFill>
                <a:srgbClr val="000000"/>
              </a:solidFill>
              <a:latin typeface="Arial"/>
            </a:endParaRPr>
          </a:p>
          <a:p>
            <a:pPr marL="457200" indent="-4572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Three types of encryption: </a:t>
            </a:r>
            <a:r>
              <a:rPr b="1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symmetric</a:t>
            </a:r>
            <a:r>
              <a:rPr b="0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, </a:t>
            </a:r>
            <a:r>
              <a:rPr b="1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asymmetric</a:t>
            </a:r>
            <a:r>
              <a:rPr b="0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 and </a:t>
            </a:r>
            <a:r>
              <a:rPr b="1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hashing</a:t>
            </a:r>
            <a:endParaRPr b="0" lang="en-IE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5FBA0A3E-0523-4171-9477-5CE35EEE8494}" type="slidenum">
              <a:t>10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831600" y="1709640"/>
            <a:ext cx="10512720" cy="2850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GB" sz="6000" spc="-1" strike="noStrike">
                <a:solidFill>
                  <a:srgbClr val="b60057"/>
                </a:solidFill>
                <a:latin typeface="Arial"/>
                <a:ea typeface="DejaVu Sans"/>
              </a:rPr>
              <a:t>Encryption</a:t>
            </a:r>
            <a:endParaRPr b="0" lang="en-IE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/>
          </p:nvPr>
        </p:nvSpPr>
        <p:spPr>
          <a:xfrm>
            <a:off x="831600" y="4589640"/>
            <a:ext cx="10512720" cy="149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5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8b8b8b"/>
                </a:solidFill>
                <a:latin typeface="Arial"/>
                <a:ea typeface="DejaVu Sans"/>
              </a:rPr>
              <a:t>Actually, encryption is important enough that we should spend some time talking about it!</a:t>
            </a:r>
            <a:endParaRPr b="0" lang="en-I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33F72A66-6ED9-45DD-95EE-07A534551AA3}" type="slidenum">
              <a:t>11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837720" y="365040"/>
            <a:ext cx="10512720" cy="132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004c6c"/>
                </a:solidFill>
                <a:latin typeface="Arial"/>
                <a:ea typeface="DejaVu Sans"/>
              </a:rPr>
              <a:t>Symmetric ciphers</a:t>
            </a:r>
            <a:endParaRPr b="0" lang="en-IE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/>
          </p:nvPr>
        </p:nvSpPr>
        <p:spPr>
          <a:xfrm>
            <a:off x="837720" y="1825560"/>
            <a:ext cx="10512720" cy="4348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6666"/>
          </a:bodyPr>
          <a:p>
            <a:pPr marL="457200" indent="-4572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Sender and reciever need to </a:t>
            </a:r>
            <a:r>
              <a:rPr b="1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share the same key in advance of communication taking place</a:t>
            </a:r>
            <a:endParaRPr b="0" lang="en-IE" sz="2800" spc="-1" strike="noStrike">
              <a:solidFill>
                <a:srgbClr val="000000"/>
              </a:solidFill>
              <a:latin typeface="Arial"/>
            </a:endParaRPr>
          </a:p>
          <a:p>
            <a:pPr marL="457200" indent="-4572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Same key</a:t>
            </a:r>
            <a:r>
              <a:rPr b="0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 used to encrypt and decrypt</a:t>
            </a:r>
            <a:endParaRPr b="0" lang="en-IE" sz="2800" spc="-1" strike="noStrike">
              <a:solidFill>
                <a:srgbClr val="000000"/>
              </a:solidFill>
              <a:latin typeface="Arial"/>
            </a:endParaRPr>
          </a:p>
          <a:p>
            <a:pPr marL="457200" indent="-4572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Examples:</a:t>
            </a:r>
            <a:endParaRPr b="0" lang="en-IE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 defTabSz="914400">
              <a:lnSpc>
                <a:spcPct val="15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800" spc="-1" strike="noStrike" u="sng">
                <a:solidFill>
                  <a:srgbClr val="0000ee"/>
                </a:solidFill>
                <a:uFillTx/>
                <a:latin typeface="Arial"/>
                <a:ea typeface="DejaVu Sans"/>
                <a:hlinkClick r:id="rId1"/>
              </a:rPr>
              <a:t>AES/Rijndael</a:t>
            </a:r>
            <a:endParaRPr b="0" lang="en-IE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 defTabSz="914400">
              <a:lnSpc>
                <a:spcPct val="15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Blowfish and Twofish</a:t>
            </a:r>
            <a:endParaRPr b="0" lang="en-IE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99ED8C4D-8784-4301-8C50-02932E384ECF}" type="slidenum">
              <a:t>12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837720" y="365040"/>
            <a:ext cx="10512720" cy="132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004c6c"/>
                </a:solidFill>
                <a:latin typeface="Arial"/>
                <a:ea typeface="DejaVu Sans"/>
              </a:rPr>
              <a:t>Asymmetric ciphers</a:t>
            </a:r>
            <a:endParaRPr b="0" lang="en-IE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/>
          </p:nvPr>
        </p:nvSpPr>
        <p:spPr>
          <a:xfrm>
            <a:off x="837720" y="1825560"/>
            <a:ext cx="10512720" cy="4348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81111"/>
          </a:bodyPr>
          <a:p>
            <a:pPr marL="457200" indent="-4572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Two keys exist: a </a:t>
            </a:r>
            <a:r>
              <a:rPr b="1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public key</a:t>
            </a:r>
            <a:r>
              <a:rPr b="0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 used to encrypt data, and a </a:t>
            </a:r>
            <a:r>
              <a:rPr b="1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private key</a:t>
            </a:r>
            <a:r>
              <a:rPr b="0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 to decrypt it</a:t>
            </a:r>
            <a:endParaRPr b="0" lang="en-IE" sz="2800" spc="-1" strike="noStrike">
              <a:solidFill>
                <a:srgbClr val="000000"/>
              </a:solidFill>
              <a:latin typeface="Arial"/>
            </a:endParaRPr>
          </a:p>
          <a:p>
            <a:pPr marL="457200" indent="-4572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The receiver generates the two keys, and </a:t>
            </a:r>
            <a:r>
              <a:rPr b="1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only makes the public key public</a:t>
            </a:r>
            <a:r>
              <a:rPr b="0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. It is useless for decrypting</a:t>
            </a:r>
            <a:endParaRPr b="0" lang="en-IE" sz="2800" spc="-1" strike="noStrike">
              <a:solidFill>
                <a:srgbClr val="000000"/>
              </a:solidFill>
              <a:latin typeface="Arial"/>
            </a:endParaRPr>
          </a:p>
          <a:p>
            <a:pPr marL="457200" indent="-4572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Examples:</a:t>
            </a:r>
            <a:endParaRPr b="0" lang="en-IE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 defTabSz="914400">
              <a:lnSpc>
                <a:spcPct val="15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RSA</a:t>
            </a:r>
            <a:endParaRPr b="0" lang="en-IE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 defTabSz="914400">
              <a:lnSpc>
                <a:spcPct val="15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Eliptic curve algorithms</a:t>
            </a:r>
            <a:endParaRPr b="0" lang="en-IE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2BAE39EB-8F7E-4D90-BE05-0A60F13F5450}" type="slidenum">
              <a:t>13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837720" y="365040"/>
            <a:ext cx="10512720" cy="132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004c6c"/>
                </a:solidFill>
                <a:latin typeface="Arial"/>
                <a:ea typeface="DejaVu Sans"/>
              </a:rPr>
              <a:t>RSA overview</a:t>
            </a:r>
            <a:endParaRPr b="0" lang="en-IE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/>
          </p:nvPr>
        </p:nvSpPr>
        <p:spPr>
          <a:xfrm>
            <a:off x="837720" y="1825560"/>
            <a:ext cx="10512720" cy="4348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83888"/>
          </a:bodyPr>
          <a:p>
            <a:pPr marL="457200" indent="-4572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750" spc="-1" strike="noStrike">
                <a:solidFill>
                  <a:srgbClr val="000000"/>
                </a:solidFill>
                <a:latin typeface="Arial"/>
                <a:ea typeface="DejaVu Sans"/>
              </a:rPr>
              <a:t>Generate two (large) prime numbers, </a:t>
            </a:r>
            <a:r>
              <a:rPr b="1" lang="en-GB" sz="2750" spc="-1" strike="noStrike">
                <a:solidFill>
                  <a:srgbClr val="000000"/>
                </a:solidFill>
                <a:latin typeface="Arial"/>
                <a:ea typeface="DejaVu Sans"/>
              </a:rPr>
              <a:t>p</a:t>
            </a:r>
            <a:r>
              <a:rPr b="0" lang="en-GB" sz="2750" spc="-1" strike="noStrike">
                <a:solidFill>
                  <a:srgbClr val="000000"/>
                </a:solidFill>
                <a:latin typeface="Arial"/>
                <a:ea typeface="DejaVu Sans"/>
              </a:rPr>
              <a:t> and </a:t>
            </a:r>
            <a:r>
              <a:rPr b="1" lang="en-GB" sz="2750" spc="-1" strike="noStrike">
                <a:solidFill>
                  <a:srgbClr val="000000"/>
                </a:solidFill>
                <a:latin typeface="Arial"/>
                <a:ea typeface="DejaVu Sans"/>
              </a:rPr>
              <a:t>q</a:t>
            </a:r>
            <a:endParaRPr b="0" lang="en-IE" sz="2750" spc="-1" strike="noStrike">
              <a:solidFill>
                <a:srgbClr val="000000"/>
              </a:solidFill>
              <a:latin typeface="Arial"/>
            </a:endParaRPr>
          </a:p>
          <a:p>
            <a:pPr marL="457200" indent="-4572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en-GB" sz="2750" spc="-1" strike="noStrike">
                <a:solidFill>
                  <a:srgbClr val="000000"/>
                </a:solidFill>
                <a:latin typeface="Arial"/>
                <a:ea typeface="DejaVu Sans"/>
              </a:rPr>
              <a:t>n</a:t>
            </a:r>
            <a:r>
              <a:rPr b="0" lang="en-GB" sz="2750" spc="-1" strike="noStrike">
                <a:solidFill>
                  <a:srgbClr val="000000"/>
                </a:solidFill>
                <a:latin typeface="Arial"/>
                <a:ea typeface="DejaVu Sans"/>
              </a:rPr>
              <a:t> = p * q</a:t>
            </a:r>
            <a:endParaRPr b="0" lang="en-IE" sz="2750" spc="-1" strike="noStrike">
              <a:solidFill>
                <a:srgbClr val="000000"/>
              </a:solidFill>
              <a:latin typeface="Arial"/>
            </a:endParaRPr>
          </a:p>
          <a:p>
            <a:pPr marL="457200" indent="-457200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b="1" lang="en-GB" sz="2750" spc="-1" strike="noStrike">
                <a:solidFill>
                  <a:srgbClr val="000000"/>
                </a:solidFill>
                <a:latin typeface="Arial"/>
                <a:ea typeface="DejaVu Sans"/>
              </a:rPr>
              <a:t>λ</a:t>
            </a:r>
            <a:r>
              <a:rPr b="0" lang="en-GB" sz="2750" spc="-1" strike="noStrike">
                <a:solidFill>
                  <a:srgbClr val="000000"/>
                </a:solidFill>
                <a:latin typeface="Arial"/>
                <a:ea typeface="DejaVu Sans"/>
              </a:rPr>
              <a:t> = lcm(p – 1, q – 1)</a:t>
            </a:r>
            <a:endParaRPr b="0" lang="en-IE" sz="2750" spc="-1" strike="noStrike">
              <a:solidFill>
                <a:srgbClr val="000000"/>
              </a:solidFill>
              <a:latin typeface="Arial"/>
            </a:endParaRPr>
          </a:p>
          <a:p>
            <a:pPr marL="457200" indent="-457200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b="0" lang="en-GB" sz="2750" spc="-1" strike="noStrike">
                <a:solidFill>
                  <a:srgbClr val="000000"/>
                </a:solidFill>
                <a:latin typeface="Arial"/>
                <a:ea typeface="DejaVu Sans"/>
              </a:rPr>
              <a:t>Pick a number </a:t>
            </a:r>
            <a:r>
              <a:rPr b="1" lang="en-GB" sz="2750" spc="-1" strike="noStrike">
                <a:solidFill>
                  <a:srgbClr val="000000"/>
                </a:solidFill>
                <a:latin typeface="Arial"/>
                <a:ea typeface="DejaVu Sans"/>
              </a:rPr>
              <a:t>e</a:t>
            </a:r>
            <a:r>
              <a:rPr b="0" lang="en-GB" sz="2750" spc="-1" strike="noStrike">
                <a:solidFill>
                  <a:srgbClr val="000000"/>
                </a:solidFill>
                <a:latin typeface="Arial"/>
                <a:ea typeface="DejaVu Sans"/>
              </a:rPr>
              <a:t> between 1 and λ such that the gcd(e, λ) = 1</a:t>
            </a:r>
            <a:endParaRPr b="0" lang="en-IE" sz="2750" spc="-1" strike="noStrike">
              <a:solidFill>
                <a:srgbClr val="000000"/>
              </a:solidFill>
              <a:latin typeface="Arial"/>
            </a:endParaRPr>
          </a:p>
          <a:p>
            <a:pPr marL="457200" indent="-457200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b="0" lang="en-GB" sz="2750" spc="-1" strike="noStrike">
                <a:solidFill>
                  <a:srgbClr val="000000"/>
                </a:solidFill>
                <a:latin typeface="Arial"/>
                <a:ea typeface="DejaVu Sans"/>
              </a:rPr>
              <a:t>Pick a number </a:t>
            </a:r>
            <a:r>
              <a:rPr b="1" lang="en-GB" sz="2750" spc="-1" strike="noStrike">
                <a:solidFill>
                  <a:srgbClr val="000000"/>
                </a:solidFill>
                <a:latin typeface="Arial"/>
                <a:ea typeface="DejaVu Sans"/>
              </a:rPr>
              <a:t>d</a:t>
            </a:r>
            <a:r>
              <a:rPr b="0" lang="en-GB" sz="2750" spc="-1" strike="noStrike">
                <a:solidFill>
                  <a:srgbClr val="000000"/>
                </a:solidFill>
                <a:latin typeface="Arial"/>
                <a:ea typeface="DejaVu Sans"/>
              </a:rPr>
              <a:t> such that (e * d) % n == 1</a:t>
            </a:r>
            <a:endParaRPr b="0" lang="en-IE" sz="2750" spc="-1" strike="noStrike">
              <a:solidFill>
                <a:srgbClr val="000000"/>
              </a:solidFill>
              <a:latin typeface="Arial"/>
            </a:endParaRPr>
          </a:p>
          <a:p>
            <a:pPr marL="457200" indent="-457200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b="0" lang="en-GB" sz="2750" spc="-1" strike="noStrike">
                <a:solidFill>
                  <a:srgbClr val="000000"/>
                </a:solidFill>
                <a:latin typeface="Arial"/>
                <a:ea typeface="DejaVu Sans"/>
              </a:rPr>
              <a:t>Use n and e as a </a:t>
            </a:r>
            <a:r>
              <a:rPr b="1" lang="en-GB" sz="2750" spc="-1" strike="noStrike">
                <a:solidFill>
                  <a:srgbClr val="000000"/>
                </a:solidFill>
                <a:latin typeface="Arial"/>
                <a:ea typeface="DejaVu Sans"/>
              </a:rPr>
              <a:t>public key</a:t>
            </a:r>
            <a:r>
              <a:rPr b="0" lang="en-GB" sz="2750" spc="-1" strike="noStrike">
                <a:solidFill>
                  <a:srgbClr val="000000"/>
                </a:solidFill>
                <a:latin typeface="Arial"/>
                <a:ea typeface="DejaVu Sans"/>
              </a:rPr>
              <a:t>, and n and d as a </a:t>
            </a:r>
            <a:r>
              <a:rPr b="1" lang="en-GB" sz="2750" spc="-1" strike="noStrike">
                <a:solidFill>
                  <a:srgbClr val="000000"/>
                </a:solidFill>
                <a:latin typeface="Arial"/>
                <a:ea typeface="DejaVu Sans"/>
              </a:rPr>
              <a:t>private key</a:t>
            </a:r>
            <a:endParaRPr b="0" lang="en-IE" sz="2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33E849A2-D208-4C52-91F1-5BF64EBB6F4C}" type="slidenum">
              <a:t>14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837720" y="365040"/>
            <a:ext cx="10512720" cy="132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004c6c"/>
                </a:solidFill>
                <a:latin typeface="Arial"/>
                <a:ea typeface="DejaVu Sans"/>
              </a:rPr>
              <a:t>RSA usage</a:t>
            </a:r>
            <a:endParaRPr b="0" lang="en-IE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/>
          </p:nvPr>
        </p:nvSpPr>
        <p:spPr>
          <a:xfrm>
            <a:off x="837720" y="1825560"/>
            <a:ext cx="10512720" cy="4348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57200" indent="-4572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750" spc="-1" strike="noStrike">
                <a:solidFill>
                  <a:srgbClr val="000000"/>
                </a:solidFill>
                <a:latin typeface="Arial"/>
                <a:ea typeface="DejaVu Sans"/>
              </a:rPr>
              <a:t>To </a:t>
            </a:r>
            <a:r>
              <a:rPr b="1" lang="en-GB" sz="2750" spc="-1" strike="noStrike">
                <a:solidFill>
                  <a:srgbClr val="000000"/>
                </a:solidFill>
                <a:latin typeface="Arial"/>
                <a:ea typeface="DejaVu Sans"/>
              </a:rPr>
              <a:t>encrypt</a:t>
            </a:r>
            <a:r>
              <a:rPr b="0" lang="en-GB" sz="2750" spc="-1" strike="noStrike">
                <a:solidFill>
                  <a:srgbClr val="000000"/>
                </a:solidFill>
                <a:latin typeface="Arial"/>
                <a:ea typeface="DejaVu Sans"/>
              </a:rPr>
              <a:t> the plaintext </a:t>
            </a:r>
            <a:r>
              <a:rPr b="1" lang="en-GB" sz="2750" spc="-1" strike="noStrike">
                <a:solidFill>
                  <a:srgbClr val="000000"/>
                </a:solidFill>
                <a:latin typeface="Arial"/>
                <a:ea typeface="DejaVu Sans"/>
              </a:rPr>
              <a:t>p</a:t>
            </a:r>
            <a:r>
              <a:rPr b="0" lang="en-GB" sz="2750" spc="-1" strike="noStrike">
                <a:solidFill>
                  <a:srgbClr val="000000"/>
                </a:solidFill>
                <a:latin typeface="Arial"/>
                <a:ea typeface="DejaVu Sans"/>
              </a:rPr>
              <a:t>:</a:t>
            </a:r>
            <a:endParaRPr b="0" lang="en-IE" sz="275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 defTabSz="914400">
              <a:lnSpc>
                <a:spcPct val="15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750" spc="-1" strike="noStrike">
                <a:solidFill>
                  <a:srgbClr val="000000"/>
                </a:solidFill>
                <a:latin typeface="Arial"/>
                <a:ea typeface="DejaVu Sans"/>
              </a:rPr>
              <a:t>c = pow(p, e) % n</a:t>
            </a:r>
            <a:endParaRPr b="0" lang="en-IE" sz="2750" spc="-1" strike="noStrike">
              <a:solidFill>
                <a:srgbClr val="000000"/>
              </a:solidFill>
              <a:latin typeface="Arial"/>
            </a:endParaRPr>
          </a:p>
          <a:p>
            <a:pPr marL="457200" indent="-4572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750" spc="-1" strike="noStrike">
                <a:solidFill>
                  <a:srgbClr val="000000"/>
                </a:solidFill>
                <a:latin typeface="Arial"/>
                <a:ea typeface="DejaVu Sans"/>
              </a:rPr>
              <a:t>To </a:t>
            </a:r>
            <a:r>
              <a:rPr b="1" lang="en-GB" sz="2750" spc="-1" strike="noStrike">
                <a:solidFill>
                  <a:srgbClr val="000000"/>
                </a:solidFill>
                <a:latin typeface="Arial"/>
                <a:ea typeface="DejaVu Sans"/>
              </a:rPr>
              <a:t>decrypt</a:t>
            </a:r>
            <a:r>
              <a:rPr b="0" lang="en-GB" sz="2750" spc="-1" strike="noStrike">
                <a:solidFill>
                  <a:srgbClr val="000000"/>
                </a:solidFill>
                <a:latin typeface="Arial"/>
                <a:ea typeface="DejaVu Sans"/>
              </a:rPr>
              <a:t> the ciphertext </a:t>
            </a:r>
            <a:r>
              <a:rPr b="1" lang="en-GB" sz="2750" spc="-1" strike="noStrike">
                <a:solidFill>
                  <a:srgbClr val="000000"/>
                </a:solidFill>
                <a:latin typeface="Arial"/>
                <a:ea typeface="DejaVu Sans"/>
              </a:rPr>
              <a:t>c</a:t>
            </a:r>
            <a:r>
              <a:rPr b="0" lang="en-GB" sz="2750" spc="-1" strike="noStrike">
                <a:solidFill>
                  <a:srgbClr val="000000"/>
                </a:solidFill>
                <a:latin typeface="Arial"/>
                <a:ea typeface="DejaVu Sans"/>
              </a:rPr>
              <a:t>:</a:t>
            </a:r>
            <a:endParaRPr b="0" lang="en-IE" sz="275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 defTabSz="914400">
              <a:lnSpc>
                <a:spcPct val="15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750" spc="-1" strike="noStrike">
                <a:solidFill>
                  <a:srgbClr val="000000"/>
                </a:solidFill>
                <a:latin typeface="Arial"/>
                <a:ea typeface="DejaVu Sans"/>
              </a:rPr>
              <a:t>p = pow(c, d) % n</a:t>
            </a:r>
            <a:endParaRPr b="0" lang="en-IE" sz="2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229C42CF-0F2E-4F05-A5B8-1F7FB770D383}" type="slidenum">
              <a:t>15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837720" y="365040"/>
            <a:ext cx="10512720" cy="132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004c6c"/>
                </a:solidFill>
                <a:latin typeface="Arial"/>
                <a:ea typeface="DejaVu Sans"/>
              </a:rPr>
              <a:t>Hashing</a:t>
            </a:r>
            <a:endParaRPr b="0" lang="en-IE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/>
          </p:nvPr>
        </p:nvSpPr>
        <p:spPr>
          <a:xfrm>
            <a:off x="837720" y="1825560"/>
            <a:ext cx="10512720" cy="4348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8333"/>
          </a:bodyPr>
          <a:p>
            <a:pPr marL="457200" indent="-4572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750" spc="-1" strike="noStrike">
                <a:solidFill>
                  <a:srgbClr val="000000"/>
                </a:solidFill>
                <a:latin typeface="Arial"/>
                <a:ea typeface="DejaVu Sans"/>
              </a:rPr>
              <a:t>Basically </a:t>
            </a:r>
            <a:r>
              <a:rPr b="1" lang="en-GB" sz="2750" spc="-1" strike="noStrike">
                <a:solidFill>
                  <a:srgbClr val="000000"/>
                </a:solidFill>
                <a:latin typeface="Arial"/>
                <a:ea typeface="DejaVu Sans"/>
              </a:rPr>
              <a:t>irreversible encryption</a:t>
            </a:r>
            <a:r>
              <a:rPr b="0" lang="en-GB" sz="2750" spc="-1" strike="noStrike">
                <a:solidFill>
                  <a:srgbClr val="000000"/>
                </a:solidFill>
                <a:latin typeface="Arial"/>
                <a:ea typeface="DejaVu Sans"/>
              </a:rPr>
              <a:t> – we can go from plaintext to ciphertext, but not the reverse</a:t>
            </a:r>
            <a:endParaRPr b="0" lang="en-IE" sz="2750" spc="-1" strike="noStrike">
              <a:solidFill>
                <a:srgbClr val="000000"/>
              </a:solidFill>
              <a:latin typeface="Arial"/>
            </a:endParaRPr>
          </a:p>
          <a:p>
            <a:pPr marL="457200" indent="-4572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750" spc="-1" strike="noStrike">
                <a:solidFill>
                  <a:srgbClr val="000000"/>
                </a:solidFill>
                <a:latin typeface="Arial"/>
                <a:ea typeface="DejaVu Sans"/>
              </a:rPr>
              <a:t>Commonly used to store passwords</a:t>
            </a:r>
            <a:endParaRPr b="0" lang="en-IE" sz="2750" spc="-1" strike="noStrike">
              <a:solidFill>
                <a:srgbClr val="000000"/>
              </a:solidFill>
              <a:latin typeface="Arial"/>
            </a:endParaRPr>
          </a:p>
          <a:p>
            <a:pPr marL="457200" indent="-4572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750" spc="-1" strike="noStrike">
                <a:solidFill>
                  <a:srgbClr val="000000"/>
                </a:solidFill>
                <a:latin typeface="Arial"/>
                <a:ea typeface="DejaVu Sans"/>
              </a:rPr>
              <a:t>Examples:</a:t>
            </a:r>
            <a:endParaRPr b="0" lang="en-IE" sz="275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 defTabSz="914400">
              <a:lnSpc>
                <a:spcPct val="15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750" spc="-1" strike="noStrike">
                <a:solidFill>
                  <a:srgbClr val="000000"/>
                </a:solidFill>
                <a:latin typeface="Arial"/>
                <a:ea typeface="DejaVu Sans"/>
              </a:rPr>
              <a:t>SHA-2 (128/256/512)</a:t>
            </a:r>
            <a:endParaRPr b="0" lang="en-IE" sz="275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 defTabSz="914400">
              <a:lnSpc>
                <a:spcPct val="15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750" spc="-1" strike="noStrike">
                <a:solidFill>
                  <a:srgbClr val="000000"/>
                </a:solidFill>
                <a:latin typeface="Arial"/>
                <a:ea typeface="DejaVu Sans"/>
              </a:rPr>
              <a:t>SHA-3 (256/384/512)</a:t>
            </a:r>
            <a:endParaRPr b="0" lang="en-IE" sz="2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4A0D3719-9A95-4848-A89A-2A7B8A85DE1C}" type="slidenum">
              <a:t>16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831600" y="1709640"/>
            <a:ext cx="10512720" cy="2850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GB" sz="6000" spc="-1" strike="noStrike">
                <a:solidFill>
                  <a:srgbClr val="b60057"/>
                </a:solidFill>
                <a:latin typeface="Arial"/>
                <a:ea typeface="DejaVu Sans"/>
              </a:rPr>
              <a:t>Encryption on the Pico</a:t>
            </a:r>
            <a:endParaRPr b="0" lang="en-IE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/>
          </p:nvPr>
        </p:nvSpPr>
        <p:spPr>
          <a:xfrm>
            <a:off x="831600" y="4589640"/>
            <a:ext cx="10512720" cy="149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5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8b8b8b"/>
                </a:solidFill>
                <a:latin typeface="Arial"/>
                <a:ea typeface="DejaVu Sans"/>
              </a:rPr>
              <a:t>Yes, there is a library that implements AES!</a:t>
            </a:r>
            <a:endParaRPr b="0" lang="en-I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ED77F999-9FD8-44E2-97F7-96ADF0ADC4DF}" type="slidenum">
              <a:t>17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837720" y="365040"/>
            <a:ext cx="10512720" cy="132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004c6c"/>
                </a:solidFill>
                <a:latin typeface="Arial"/>
                <a:ea typeface="DejaVu Sans"/>
              </a:rPr>
              <a:t>Modes of operation</a:t>
            </a:r>
            <a:endParaRPr b="0" lang="en-IE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/>
          </p:nvPr>
        </p:nvSpPr>
        <p:spPr>
          <a:xfrm>
            <a:off x="837720" y="1825560"/>
            <a:ext cx="10512720" cy="4348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57200" indent="-4572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750" spc="-1" strike="noStrike">
                <a:solidFill>
                  <a:srgbClr val="000000"/>
                </a:solidFill>
                <a:latin typeface="Arial"/>
                <a:ea typeface="DejaVu Sans"/>
              </a:rPr>
              <a:t>One complexity in the real world: if we use a block cipher with a block size of 256 bits, </a:t>
            </a:r>
            <a:r>
              <a:rPr b="1" lang="en-GB" sz="2750" spc="-1" strike="noStrike">
                <a:solidFill>
                  <a:srgbClr val="000000"/>
                </a:solidFill>
                <a:latin typeface="Arial"/>
                <a:ea typeface="DejaVu Sans"/>
              </a:rPr>
              <a:t>how do we encrypt more than 256 bits of data?</a:t>
            </a:r>
            <a:endParaRPr b="0" lang="en-IE" sz="275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 defTabSz="914400">
              <a:lnSpc>
                <a:spcPct val="15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750" spc="-1" strike="noStrike">
                <a:solidFill>
                  <a:srgbClr val="000000"/>
                </a:solidFill>
                <a:latin typeface="Arial"/>
                <a:ea typeface="DejaVu Sans"/>
              </a:rPr>
              <a:t>You would assume we pad it to have a length which is a multiple of 256 bits and split it into blocks</a:t>
            </a:r>
            <a:endParaRPr b="0" lang="en-IE" sz="275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 defTabSz="914400">
              <a:lnSpc>
                <a:spcPct val="15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750" spc="-1" strike="noStrike">
                <a:solidFill>
                  <a:srgbClr val="000000"/>
                </a:solidFill>
                <a:latin typeface="Arial"/>
                <a:ea typeface="DejaVu Sans"/>
              </a:rPr>
              <a:t>Do people think this will work?</a:t>
            </a:r>
            <a:endParaRPr b="0" lang="en-IE" sz="2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E4E29F16-D6B5-4B6D-8656-2AD95CFE966C}" type="slidenum">
              <a:t>18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837720" y="365040"/>
            <a:ext cx="10512720" cy="132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004c6c"/>
                </a:solidFill>
                <a:latin typeface="Arial"/>
                <a:ea typeface="DejaVu Sans"/>
              </a:rPr>
              <a:t>Modes of operation</a:t>
            </a:r>
            <a:endParaRPr b="0" lang="en-IE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PlaceHolder 2"/>
          <p:cNvSpPr>
            <a:spLocks noGrp="1"/>
          </p:cNvSpPr>
          <p:nvPr>
            <p:ph/>
          </p:nvPr>
        </p:nvSpPr>
        <p:spPr>
          <a:xfrm>
            <a:off x="837720" y="1825560"/>
            <a:ext cx="10512720" cy="4348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57200" indent="-4572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750" spc="-1" strike="noStrike">
                <a:solidFill>
                  <a:srgbClr val="000000"/>
                </a:solidFill>
                <a:latin typeface="Arial"/>
                <a:ea typeface="DejaVu Sans"/>
              </a:rPr>
              <a:t>One complexity in the real world: if we use a block cipher with a block size of 256 bits, </a:t>
            </a:r>
            <a:r>
              <a:rPr b="1" lang="en-GB" sz="2750" spc="-1" strike="noStrike">
                <a:solidFill>
                  <a:srgbClr val="000000"/>
                </a:solidFill>
                <a:latin typeface="Arial"/>
                <a:ea typeface="DejaVu Sans"/>
              </a:rPr>
              <a:t>how do we encrypt more than 256 bits of data?</a:t>
            </a:r>
            <a:endParaRPr b="0" lang="en-IE" sz="275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 defTabSz="914400">
              <a:lnSpc>
                <a:spcPct val="15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750" spc="-1" strike="noStrike">
                <a:solidFill>
                  <a:srgbClr val="000000"/>
                </a:solidFill>
                <a:latin typeface="Arial"/>
                <a:ea typeface="DejaVu Sans"/>
              </a:rPr>
              <a:t>You would assume we pad it to have a length which is a multiple of 256 bits and split it into blocks (ECB mode)</a:t>
            </a:r>
            <a:endParaRPr b="0" lang="en-IE" sz="275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 defTabSz="914400">
              <a:lnSpc>
                <a:spcPct val="15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750" spc="-1" strike="noStrike">
                <a:solidFill>
                  <a:srgbClr val="000000"/>
                </a:solidFill>
                <a:latin typeface="Arial"/>
                <a:ea typeface="DejaVu Sans"/>
              </a:rPr>
              <a:t>Do people think this will work?</a:t>
            </a:r>
            <a:endParaRPr b="0" lang="en-IE" sz="2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AD22363D-D66F-48F6-8856-D57B29CBEEF6}" type="slidenum">
              <a:t>19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837720" y="365040"/>
            <a:ext cx="10512720" cy="132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004c6c"/>
                </a:solidFill>
                <a:latin typeface="Arial"/>
                <a:ea typeface="DejaVu Sans"/>
              </a:rPr>
              <a:t>Electronic code book doesn’t work!</a:t>
            </a:r>
            <a:endParaRPr b="0" lang="en-IE" sz="4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6" name="" descr=""/>
          <p:cNvPicPr/>
          <p:nvPr/>
        </p:nvPicPr>
        <p:blipFill>
          <a:blip r:embed="rId1"/>
          <a:stretch/>
        </p:blipFill>
        <p:spPr>
          <a:xfrm>
            <a:off x="7380000" y="1431000"/>
            <a:ext cx="3804480" cy="4508640"/>
          </a:xfrm>
          <a:prstGeom prst="rect">
            <a:avLst/>
          </a:prstGeom>
          <a:ln w="0">
            <a:noFill/>
          </a:ln>
        </p:spPr>
      </p:pic>
      <p:sp>
        <p:nvSpPr>
          <p:cNvPr id="117" name=""/>
          <p:cNvSpPr/>
          <p:nvPr/>
        </p:nvSpPr>
        <p:spPr>
          <a:xfrm>
            <a:off x="720000" y="2340000"/>
            <a:ext cx="5939640" cy="341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IE" sz="3200" spc="-1" strike="noStrike">
                <a:solidFill>
                  <a:srgbClr val="000000"/>
                </a:solidFill>
                <a:latin typeface="Arial"/>
              </a:rPr>
              <a:t>Using ECB can </a:t>
            </a:r>
            <a:r>
              <a:rPr b="1" lang="en-IE" sz="3200" spc="-1" strike="noStrike">
                <a:solidFill>
                  <a:srgbClr val="000000"/>
                </a:solidFill>
                <a:latin typeface="Arial"/>
              </a:rPr>
              <a:t>leak</a:t>
            </a:r>
            <a:r>
              <a:rPr b="0" lang="en-IE" sz="3200" spc="-1" strike="noStrike">
                <a:solidFill>
                  <a:srgbClr val="000000"/>
                </a:solidFill>
                <a:latin typeface="Arial"/>
              </a:rPr>
              <a:t> a lot of information about the underlying data!</a:t>
            </a:r>
            <a:endParaRPr b="0" lang="en-IE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F4C7109E-A51D-4BCD-B033-CD157766D8A9}" type="slidenum">
              <a:t>20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837720" y="365040"/>
            <a:ext cx="10512720" cy="132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004c6c"/>
                </a:solidFill>
                <a:latin typeface="Arial"/>
                <a:ea typeface="DejaVu Sans"/>
              </a:rPr>
              <a:t>Cipher-block chaining (CBC)</a:t>
            </a:r>
            <a:endParaRPr b="0" lang="en-IE" sz="4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9" name="" descr=""/>
          <p:cNvPicPr/>
          <p:nvPr/>
        </p:nvPicPr>
        <p:blipFill>
          <a:blip r:embed="rId1"/>
          <a:stretch/>
        </p:blipFill>
        <p:spPr>
          <a:xfrm>
            <a:off x="0" y="962640"/>
            <a:ext cx="12191400" cy="491400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9C9E4C2F-4876-4577-AF8F-96AB85A0B5AC}" type="slidenum">
              <a:t>21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837720" y="365040"/>
            <a:ext cx="10512720" cy="132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004c6c"/>
                </a:solidFill>
                <a:latin typeface="Arial"/>
                <a:ea typeface="DejaVu Sans"/>
              </a:rPr>
              <a:t>AES in MicroPython</a:t>
            </a:r>
            <a:endParaRPr b="0" lang="en-IE" sz="4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1" name="" descr=""/>
          <p:cNvPicPr/>
          <p:nvPr/>
        </p:nvPicPr>
        <p:blipFill>
          <a:blip r:embed="rId1"/>
          <a:stretch/>
        </p:blipFill>
        <p:spPr>
          <a:xfrm>
            <a:off x="837720" y="1440000"/>
            <a:ext cx="5101920" cy="4533840"/>
          </a:xfrm>
          <a:prstGeom prst="rect">
            <a:avLst/>
          </a:prstGeom>
          <a:ln w="0">
            <a:noFill/>
          </a:ln>
        </p:spPr>
      </p:pic>
      <p:pic>
        <p:nvPicPr>
          <p:cNvPr id="122" name="" descr=""/>
          <p:cNvPicPr/>
          <p:nvPr/>
        </p:nvPicPr>
        <p:blipFill>
          <a:blip r:embed="rId2"/>
          <a:stretch/>
        </p:blipFill>
        <p:spPr>
          <a:xfrm>
            <a:off x="6108120" y="1773000"/>
            <a:ext cx="5951520" cy="380664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5134A5E8-7435-4F75-82F2-0CE2C90028ED}" type="slidenum">
              <a:t>22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831600" y="1709640"/>
            <a:ext cx="10512720" cy="2850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GB" sz="6000" spc="-1" strike="noStrike">
                <a:solidFill>
                  <a:srgbClr val="b60057"/>
                </a:solidFill>
                <a:latin typeface="Arial"/>
                <a:ea typeface="DejaVu Sans"/>
              </a:rPr>
              <a:t>Back to the main lecture</a:t>
            </a:r>
            <a:endParaRPr b="0" lang="en-IE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/>
          </p:nvPr>
        </p:nvSpPr>
        <p:spPr>
          <a:xfrm>
            <a:off x="831600" y="4589640"/>
            <a:ext cx="10512720" cy="149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5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8b8b8b"/>
                </a:solidFill>
                <a:latin typeface="Arial"/>
                <a:ea typeface="DejaVu Sans"/>
              </a:rPr>
              <a:t>That’s enough talk about encryption!</a:t>
            </a:r>
            <a:endParaRPr b="0" lang="en-I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17E4C758-985D-4D7A-98FD-48E93E431B94}" type="slidenum">
              <a:t>23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837720" y="365040"/>
            <a:ext cx="10512720" cy="132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004c6c"/>
                </a:solidFill>
                <a:latin typeface="Arial"/>
                <a:ea typeface="DejaVu Sans"/>
              </a:rPr>
              <a:t>Trusted computing</a:t>
            </a:r>
            <a:endParaRPr b="0" lang="en-IE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PlaceHolder 2"/>
          <p:cNvSpPr>
            <a:spLocks noGrp="1"/>
          </p:cNvSpPr>
          <p:nvPr>
            <p:ph/>
          </p:nvPr>
        </p:nvSpPr>
        <p:spPr>
          <a:xfrm>
            <a:off x="837720" y="1825560"/>
            <a:ext cx="10512720" cy="4348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Use cryptographic functions to </a:t>
            </a:r>
            <a:r>
              <a:rPr b="1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ensure that firmware hasn’t been tampered or modified</a:t>
            </a:r>
            <a:endParaRPr b="0" lang="en-IE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 defTabSz="914400">
              <a:lnSpc>
                <a:spcPct val="15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Somewhat controversial!</a:t>
            </a:r>
            <a:endParaRPr b="0" lang="en-IE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Secure Boot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 on PCs – a similar system called the </a:t>
            </a:r>
            <a:r>
              <a:rPr b="1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Device Identifier Composition Engine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 (</a:t>
            </a:r>
            <a:r>
              <a:rPr b="1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DICE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) is used for IoT</a:t>
            </a:r>
            <a:endParaRPr b="0" lang="en-IE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3AC4FCAC-72F2-418C-B580-B9868874DD96}" type="slidenum">
              <a:t>24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837720" y="365040"/>
            <a:ext cx="10512720" cy="132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004c6c"/>
                </a:solidFill>
                <a:latin typeface="Arial"/>
                <a:ea typeface="DejaVu Sans"/>
              </a:rPr>
              <a:t>Vendor responses to security incidents</a:t>
            </a:r>
            <a:endParaRPr b="0" lang="en-IE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PlaceHolder 2"/>
          <p:cNvSpPr>
            <a:spLocks noGrp="1"/>
          </p:cNvSpPr>
          <p:nvPr>
            <p:ph/>
          </p:nvPr>
        </p:nvSpPr>
        <p:spPr>
          <a:xfrm>
            <a:off x="792360" y="1688400"/>
            <a:ext cx="10512720" cy="4104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How it is </a:t>
            </a:r>
            <a:r>
              <a:rPr b="1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supposed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 to work:</a:t>
            </a:r>
            <a:endParaRPr b="0" lang="en-IE" sz="2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 defTabSz="914400">
              <a:lnSpc>
                <a:spcPct val="15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Have a </a:t>
            </a:r>
            <a:r>
              <a:rPr b="1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plan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 in place detailing how to respond to security breaches</a:t>
            </a:r>
            <a:endParaRPr b="0" lang="en-IE" sz="2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 defTabSz="914400">
              <a:lnSpc>
                <a:spcPct val="15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1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Monitor network traffic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 to detect suspicious activity!</a:t>
            </a:r>
            <a:endParaRPr b="0" lang="en-IE" sz="2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 defTabSz="914400">
              <a:lnSpc>
                <a:spcPct val="15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1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Inform customers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 when a breach occurs</a:t>
            </a:r>
            <a:endParaRPr b="0" lang="en-IE" sz="2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 defTabSz="914400">
              <a:lnSpc>
                <a:spcPct val="15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1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Update device firmware</a:t>
            </a:r>
            <a:endParaRPr b="0" lang="en-IE" sz="2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 defTabSz="914400">
              <a:lnSpc>
                <a:spcPct val="15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Plan for </a:t>
            </a:r>
            <a:r>
              <a:rPr b="1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process changes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, deal with </a:t>
            </a:r>
            <a:r>
              <a:rPr b="1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human factors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!</a:t>
            </a:r>
            <a:endParaRPr b="0" lang="en-I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63E6E58A-28D5-45CD-A3A2-4B71A262F6C2}" type="slidenum">
              <a:t>25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837720" y="365040"/>
            <a:ext cx="10512720" cy="132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004c6c"/>
                </a:solidFill>
                <a:latin typeface="Arial"/>
                <a:ea typeface="DejaVu Sans"/>
              </a:rPr>
              <a:t>Summary</a:t>
            </a:r>
            <a:endParaRPr b="0" lang="en-IE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PlaceHolder 2"/>
          <p:cNvSpPr>
            <a:spLocks noGrp="1"/>
          </p:cNvSpPr>
          <p:nvPr>
            <p:ph/>
          </p:nvPr>
        </p:nvSpPr>
        <p:spPr>
          <a:xfrm>
            <a:off x="825840" y="1260000"/>
            <a:ext cx="10512720" cy="4348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Security is a common issue in IoT devices, so it is something that needs special attention</a:t>
            </a:r>
            <a:endParaRPr b="0" lang="en-IE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There is no such thing as 100% secure, but there is such a thing as not worth dealing with (attackers follow the path of least resistance)</a:t>
            </a:r>
            <a:endParaRPr b="0" lang="en-IE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Use proper encryption!</a:t>
            </a:r>
            <a:endParaRPr b="0" lang="en-IE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544E7BEF-2850-42E6-AF45-FE578BED6D62}" type="slidenum">
              <a:t>26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8610120" y="638820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D22F0B8-0BDE-4949-A332-559DBACD25C7}" type="slidenum">
              <a:rPr b="1" lang="en-GB" sz="1600" spc="-1" strike="noStrike">
                <a:solidFill>
                  <a:srgbClr val="fafbfd"/>
                </a:solidFill>
                <a:latin typeface="Arial"/>
                <a:ea typeface="DejaVu Sans"/>
              </a:rPr>
              <a:t>&lt;number&gt;</a:t>
            </a:fld>
            <a:endParaRPr b="0" lang="en-IE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" name="Rectangle 117"/>
          <p:cNvSpPr/>
          <p:nvPr/>
        </p:nvSpPr>
        <p:spPr>
          <a:xfrm>
            <a:off x="1619640" y="2160000"/>
            <a:ext cx="8817480" cy="162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IE" sz="3600" spc="-1" strike="noStrike">
                <a:solidFill>
                  <a:srgbClr val="ffffff"/>
                </a:solidFill>
                <a:latin typeface="Arial"/>
                <a:ea typeface="DejaVu Sans"/>
              </a:rPr>
              <a:t>That’s all for this week</a:t>
            </a:r>
            <a:endParaRPr b="0" lang="en-IE" sz="3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IE" sz="3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IE" sz="3600" spc="-1" strike="noStrike">
                <a:solidFill>
                  <a:srgbClr val="ffffff"/>
                </a:solidFill>
                <a:latin typeface="Arial"/>
                <a:ea typeface="DejaVu Sans"/>
              </a:rPr>
              <a:t>Thanks for your attention!</a:t>
            </a:r>
            <a:endParaRPr b="0" lang="en-IE" sz="36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387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2025-01-27T13:51:31Z</dcterms:created>
  <dc:creator/>
  <dc:description/>
  <dc:language>en-IE</dc:language>
  <cp:lastModifiedBy/>
  <dcterms:modified xsi:type="dcterms:W3CDTF">2025-10-17T12:44:23Z</dcterms:modified>
  <cp:revision>172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12</vt:i4>
  </property>
  <property fmtid="{D5CDD505-2E9C-101B-9397-08002B2CF9AE}" pid="3" name="PresentationFormat">
    <vt:lpwstr>Widescreen</vt:lpwstr>
  </property>
  <property fmtid="{D5CDD505-2E9C-101B-9397-08002B2CF9AE}" pid="4" name="Slides">
    <vt:i4>21</vt:i4>
  </property>
</Properties>
</file>