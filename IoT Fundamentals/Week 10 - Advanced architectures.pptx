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19.xml.rels" ContentType="application/vnd.openxmlformats-package.relationships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18CCF33-3431-4EA5-9677-940AFAD0D9F8}" type="slidenum"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3320" cy="36039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3320" cy="42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4"/>
          </p:nvPr>
        </p:nvSpPr>
        <p:spPr>
          <a:xfrm>
            <a:off x="4282200" y="10155600"/>
            <a:ext cx="3271320" cy="5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80024C-CDBD-497B-AE7F-199CDE3B7AD0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D61F46-8331-4B33-B518-2FF6B155F8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37D89B-8060-4626-BAEE-F2ED78839B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8069972-CA6A-4159-BE8E-E0EF5B9FC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C8974C3-FB9C-4E2D-B18E-43A0CD8B97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91E5EE6-ED5C-4832-98F3-A366387ADD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BB42C5D-02EC-4751-9CCD-13A6616C1E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927A69F-7C3B-4A50-9E26-E3F8B4F9B3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93D3038-D000-4E3D-8FC0-C907C087A1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711E909-BED8-4069-9020-C84BDA5913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B04C4B0-3CB1-45F2-ADE6-B118DD07CE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1A5FAB-7741-4320-88AE-C1F0343D2345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08CF37-33AC-40D2-9284-13FA7FD138FE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6311880"/>
            <a:ext cx="12187080" cy="5414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7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8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F059C0-6314-442E-B543-6BFA388917EF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9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0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1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AE50C7-A7A7-4329-B7E1-BEEC9043A54F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12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3229ED-E414-4235-9C76-0B1E5603F3D2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5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0" y="6311880"/>
            <a:ext cx="12187080" cy="5414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E0A9F7-43F2-49BD-AD56-CF03A46232B3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/>
          <p:cNvSpPr/>
          <p:nvPr/>
        </p:nvSpPr>
        <p:spPr>
          <a:xfrm>
            <a:off x="0" y="6311880"/>
            <a:ext cx="12187080" cy="5414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9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0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584AD3-E1F1-4AA9-AB27-F91D04E976FD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1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2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3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E6043D-D39B-481A-A55F-67B5D01E0DCA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24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25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6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962839-12CE-4B6D-99DD-76095B7A791D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7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0" y="6311880"/>
            <a:ext cx="12187080" cy="5414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8"/>
          </p:nvPr>
        </p:nvSpPr>
        <p:spPr>
          <a:xfrm>
            <a:off x="4038120" y="638820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9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D5C3B7-AC92-4547-ADB5-23279AD2C992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0"/>
          </p:nvPr>
        </p:nvSpPr>
        <p:spPr>
          <a:xfrm>
            <a:off x="8377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46360" y="3198240"/>
            <a:ext cx="8059320" cy="1306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Week </a:t>
            </a:r>
            <a:r>
              <a:rPr b="1" lang="en-IE" sz="4000" spc="-1" strike="sngStrike">
                <a:solidFill>
                  <a:srgbClr val="fafbfd"/>
                </a:solidFill>
                <a:latin typeface="Arial"/>
                <a:ea typeface="Open sans"/>
              </a:rPr>
              <a:t>10</a:t>
            </a: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 11</a:t>
            </a:r>
            <a:br>
              <a:rPr sz="4000"/>
            </a:b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Advanced architectures</a:t>
            </a:r>
            <a:endParaRPr b="0" lang="en-IE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98520" y="5792400"/>
            <a:ext cx="65606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Fundamentals of IoT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Dr. Eoin Rogers (eoin.rogers@tudublin.ie)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Lesson Outline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Now that we’ve seen more complex IoT systems, it’s useful to think about what the architecture of such systems might look like!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We’ll examine the architectures of some real IoT systems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We’ll also look at protocol buffers, a form of data encoding developed by Google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AF4C1FA-A419-427E-A4C4-19511CD7C7DA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0560" cy="28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Architectures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056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Can anyone name the three architectural styles?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EBE755-50A4-41B5-94E8-47A872490A6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Architectural styles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Device-to-cloud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Device-to-gateway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Device-to-device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A94C7BA-FDC4-42A6-AF9F-9A09FE23878F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Three tier architecture of IoT devices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Tier 1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Edge devices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Tier 2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Gateway devices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Tier 3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Cloud systems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4BB73EA-5E7D-4645-AAE5-4EDBF326C6A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0560" cy="28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Case studies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056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Three examples of IoT systems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2958223-E94C-48A2-A3EC-E8D6630D990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Bus Times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1537560" y="1369080"/>
            <a:ext cx="9442440" cy="4570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636C0A1-2114-4D3F-901A-209149D4B0B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Amazon Echo/Alexa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3420000" y="1431000"/>
            <a:ext cx="5352480" cy="4509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6267AD6-BAD1-408B-A355-CF6FB1B85B4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Alexa Skills Kit (ASK)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what you use to develop new Alexa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skills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Users can add them to an Echo they own via an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online store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skills then run on an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AWS Lambda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service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CF8CA45-23DE-4033-8D73-8FE4A31ED499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Recognising speech commands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Internally, the system uses a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to convert the speech into text, which is matched against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sample utterences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that should trigger the skill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Sample utterences can contain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slots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(variables you want to show up in the intent containing a word of phrase of interest)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These can then be converted to data structures called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intents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BD2DAC5-0D13-411F-908D-FFCE440F46EB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The AbstractRequestHandler class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 lnSpcReduction="10000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You can write code in Python or JS to respond to an intent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code should derive from a class called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AbstractRequestHandler, and you should override two methods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 implement the functionality: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can_handle()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-- Returns true iff your code can handle this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intent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handle()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-- Which will actually compute the response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8D85127-09EA-40CF-B49B-2E1F53BD3054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Our IoT temperature system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What would the architecture look like for this system?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How would you document it in a diagram?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E534AF7-196E-47B8-A771-727EA8922217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0560" cy="28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Protocol buffers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056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An efficient system for sending data over the internet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BD0103F-926B-4323-8ECB-FD0E990AE10C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Protocol buffers overview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Developed by Google in 2001, open sourced in 2008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Allows you to define a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schema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and encode/decode messages in it into a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binary data format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that is small and low bandwidth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 protocol buffer compiler (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protoc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) auto-generates the code for this for you: there is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 need to write low-level bit manipulation code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yourself...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3C29E8D-97D2-44B4-9861-FDE1E37139B6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Protocol buffer schemas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015200" y="1260000"/>
            <a:ext cx="4715280" cy="4860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6234120" y="1618920"/>
            <a:ext cx="5285880" cy="3781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D234A8E-0D79-4D13-98F2-4FE898AB40F1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Using the generated code in Python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2124000" y="2015280"/>
            <a:ext cx="7943400" cy="2809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EE04E75-B1B3-4885-BDFD-554C5E387165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gRPC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 lnSpcReduction="10000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Protobufs are also the basis of Google’s Remote Procedure Call protocol (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gRPC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), which is widely used in industry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normal protobuf language allows you to specify procedures in the form of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function signatures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used to generate both client and server-side code. The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server code is then modified to implement the desired behaviour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CD2991A-4E8E-4605-9F7F-7093826783ED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gRPC example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2520000" y="1440000"/>
            <a:ext cx="7237080" cy="4713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31B0A55-8876-4100-BE18-7100B9D109F7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056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Summary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056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Reviewed the architectural styles common IoT systems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Introduced the idea of three tiered systems, which is a common way of thinking about IoT systems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Discussed the architecture of three IoT systems, and described how you might document and communicate this information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Provided an introduction to Google’s protobuf system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BFFA259-0F8D-445D-8467-E2B92A3F8CCC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610120" y="638820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31DFE5-F444-42E9-A5AA-C820C1A8FFAC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ectangle 117"/>
          <p:cNvSpPr/>
          <p:nvPr/>
        </p:nvSpPr>
        <p:spPr>
          <a:xfrm>
            <a:off x="1619640" y="2160000"/>
            <a:ext cx="8815320" cy="16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That’s all for this week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Thanks for your attention!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2025-01-27T13:51:31Z</dcterms:created>
  <dc:creator/>
  <dc:description/>
  <dc:language>en-IE</dc:language>
  <cp:lastModifiedBy/>
  <dcterms:modified xsi:type="dcterms:W3CDTF">2025-11-24T15:21:45Z</dcterms:modified>
  <cp:revision>274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