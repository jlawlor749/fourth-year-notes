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</p:sldMasterIdLst>
  <p:notesMasterIdLst>
    <p:notesMasterId r:id="rId3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E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05BBC72-94C1-4CA6-A64E-58E976E3F603}" type="slidenum"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34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5E1F0F-A073-485E-85B8-FDB4FFD02804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4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35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CA9675-7F17-4B76-A1B5-40A3DC449C62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5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36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BB4937-89DA-4C78-9762-ABA5F6774AB4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6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37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98B800-6DFB-4935-BC0C-FCF4C8C2246B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11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73120" y="1336680"/>
            <a:ext cx="6411600" cy="360648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38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529262-DE3D-47A0-AEB4-480BF1BED990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12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39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F8173D-3FEF-470D-8D5D-9DC388274E7A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13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0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D8872A-A055-4576-AB48-0658A9E6A3FB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14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1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2FCC26-748B-4115-AAFE-A5360E15E401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15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2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38EB36-ED94-4383-B49C-BB9C16C1CF09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16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3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25E220-510D-4572-A425-CDA55F5679F1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18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4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21A594-3A4E-4FE6-AFD3-F9DBFB5575C8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19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6000" y="1336320"/>
            <a:ext cx="6046560" cy="36072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5"/>
          </p:nvPr>
        </p:nvSpPr>
        <p:spPr>
          <a:xfrm>
            <a:off x="4282200" y="10155600"/>
            <a:ext cx="3274560" cy="53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93FCE6-B92D-4020-BFE3-403E942DE968}" type="slidenum">
              <a:rPr lang="en-GB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20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43F4EBF-EAC0-4ACB-AE72-F1F1E3B9C12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B67FF73-A5F4-4290-8239-1A0AC0FC22C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5D55A79-0396-42F8-9777-85783CA9471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D81D35BF-B361-4FB9-B91F-4FCE923FCEF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5C0E79D-2515-4E9A-959F-387F567DD8A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0774873-98F6-4DEE-B414-435F8A74D1B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AD8C6015-3268-49F7-9537-77E86FA1111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013613C5-7287-48F0-AE58-1C1A42BAF84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7F04F00-C8B7-4756-AEC5-80349933836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C911F5A6-1268-4E3D-8464-20A4DA954B1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DD5BA7-0349-4011-802F-F71A6C6EAEC5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6BC65A-7871-451C-862D-F4AB45E4B85E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6311880"/>
            <a:ext cx="12190320" cy="5446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IE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ftr" idx="7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8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4BE4B7-D0CB-48E7-A44E-15D01E06ECD1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9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ftr" idx="10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1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A35A22-C428-43E6-AB15-C4BD54EB3B8C}" type="slidenum">
              <a:rPr lang="en-GB" sz="1600" b="1" strike="noStrike" spc="-1">
                <a:solidFill>
                  <a:srgbClr val="7C96CB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12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7BF31D-90D9-40CB-ABE8-E0CFB8182536}" type="slidenum">
              <a:rPr lang="en-GB" sz="1600" b="1" strike="noStrike" spc="-1">
                <a:solidFill>
                  <a:srgbClr val="7C96CB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5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0" y="6311880"/>
            <a:ext cx="12190320" cy="5446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IE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0B0449-6D33-4F55-842A-7DEB42211560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/>
          <p:cNvSpPr/>
          <p:nvPr/>
        </p:nvSpPr>
        <p:spPr>
          <a:xfrm>
            <a:off x="0" y="6311880"/>
            <a:ext cx="12190320" cy="5446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IE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ftr" idx="19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0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BED572-347B-4BB3-992B-AF9C71F75CC1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1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0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ftr" idx="22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3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D1FDB4-7CCB-4A79-8DF7-0D218D7558E7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24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FFFFFF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0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25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6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CD24B4-74A3-4C80-A07D-94D7616079C4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7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FFFFFF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0" y="6311880"/>
            <a:ext cx="12190320" cy="5446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IE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ftr" idx="28"/>
          </p:nvPr>
        </p:nvSpPr>
        <p:spPr>
          <a:xfrm>
            <a:off x="4038120" y="638820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9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600" b="1" strike="noStrike" spc="-1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8BAF64-1329-4ABF-951E-56EDA65929B9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‹#›</a:t>
            </a:fld>
            <a:endParaRPr lang="en-IE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0"/>
          </p:nvPr>
        </p:nvSpPr>
        <p:spPr>
          <a:xfrm>
            <a:off x="8377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en.wikipedia.org/wiki/List_of_WLAN_channel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ealpython.com/python-sockets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46360" y="3198240"/>
            <a:ext cx="8062560" cy="130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4000" b="1" strike="noStrike" spc="-1">
                <a:solidFill>
                  <a:srgbClr val="FAFBFD"/>
                </a:solidFill>
                <a:latin typeface="Arial"/>
                <a:ea typeface="Open sans"/>
              </a:rPr>
              <a:t>Week 3</a:t>
            </a:r>
            <a:br>
              <a:rPr sz="4000"/>
            </a:br>
            <a:r>
              <a:rPr lang="en-IE" sz="4000" b="1" strike="noStrike" spc="-1">
                <a:solidFill>
                  <a:srgbClr val="FAFBFD"/>
                </a:solidFill>
                <a:latin typeface="Arial"/>
                <a:ea typeface="Open sans"/>
              </a:rPr>
              <a:t>Networking with the Pico W</a:t>
            </a:r>
            <a:endParaRPr lang="en-U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98520" y="5792400"/>
            <a:ext cx="6561360" cy="88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0" strike="noStrike" spc="-1">
                <a:solidFill>
                  <a:srgbClr val="FAFBFD"/>
                </a:solidFill>
                <a:latin typeface="Open sans"/>
                <a:ea typeface="DejaVu Sans"/>
              </a:rPr>
              <a:t>Fundamentals of IoT</a:t>
            </a:r>
            <a:endParaRPr lang="en-IE" sz="2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600" b="0" strike="noStrike" spc="-1">
                <a:solidFill>
                  <a:srgbClr val="FAFBFD"/>
                </a:solidFill>
                <a:latin typeface="Open sans"/>
                <a:ea typeface="DejaVu Sans"/>
              </a:rPr>
              <a:t>Dr. Eoin Rogers (eoin.rogers@tudublin.ie)</a:t>
            </a:r>
            <a:endParaRPr lang="en-IE" sz="2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Lesson Outline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8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Quick refresher on networking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Connecting the Pico to the Internet via wi-fi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Using the sockets API to send and receive data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Basic processing of the data using string/bytes manipulation functions/methods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7A80FC9-0D78-45B6-ABEB-3E5E38E2B25D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380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rgbClr val="B60057"/>
                </a:solidFill>
                <a:latin typeface="Arial"/>
                <a:ea typeface="DejaVu Sans"/>
              </a:rPr>
              <a:t>Networking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380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8B8B8B"/>
                </a:solidFill>
                <a:latin typeface="Arial"/>
                <a:ea typeface="DejaVu Sans"/>
              </a:rPr>
              <a:t>A quick refresher on modern computer networking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A9555EC-FD08-49DD-AA1F-AA984559E225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Networking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3" name="Picture 82"/>
          <p:cNvPicPr/>
          <p:nvPr/>
        </p:nvPicPr>
        <p:blipFill>
          <a:blip r:embed="rId3"/>
          <a:stretch/>
        </p:blipFill>
        <p:spPr>
          <a:xfrm>
            <a:off x="4063320" y="1080000"/>
            <a:ext cx="4576320" cy="4868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F57C635-9459-4118-A358-201A9EAD4596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OSI networking model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5" name="Picture 84"/>
          <p:cNvPicPr/>
          <p:nvPr/>
        </p:nvPicPr>
        <p:blipFill>
          <a:blip r:embed="rId3"/>
          <a:stretch/>
        </p:blipFill>
        <p:spPr>
          <a:xfrm>
            <a:off x="7634160" y="741240"/>
            <a:ext cx="3165480" cy="5198400"/>
          </a:xfrm>
          <a:prstGeom prst="rect">
            <a:avLst/>
          </a:prstGeom>
          <a:ln w="0">
            <a:noFill/>
          </a:ln>
        </p:spPr>
      </p:pic>
      <p:sp>
        <p:nvSpPr>
          <p:cNvPr id="86" name="TextBox 85"/>
          <p:cNvSpPr/>
          <p:nvPr/>
        </p:nvSpPr>
        <p:spPr>
          <a:xfrm>
            <a:off x="900000" y="1800000"/>
            <a:ext cx="7019640" cy="41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Networks are structured as a series of </a:t>
            </a:r>
            <a:r>
              <a:rPr lang="en-IE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layers</a:t>
            </a:r>
            <a:endParaRPr lang="en-IE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Each layer </a:t>
            </a:r>
            <a:r>
              <a:rPr lang="en-IE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takes data from the layer above</a:t>
            </a: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, packages it into a datagram format, and </a:t>
            </a:r>
            <a:r>
              <a:rPr lang="en-IE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passes this to the layer below</a:t>
            </a:r>
            <a:endParaRPr lang="en-IE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There are </a:t>
            </a:r>
            <a:r>
              <a:rPr lang="en-IE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two exceptions</a:t>
            </a: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to this: the very topmost and bottommost layers:</a:t>
            </a:r>
            <a:endParaRPr lang="en-IE" sz="2400" b="0" strike="noStrike" spc="-1">
              <a:solidFill>
                <a:srgbClr val="000000"/>
              </a:solidFill>
              <a:latin typeface="Arial"/>
            </a:endParaRPr>
          </a:p>
          <a:p>
            <a:pPr marL="558720" lvl="1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lang="en-IE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physical layer</a:t>
            </a: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represents hardware and passes raw bits on the physical network medium</a:t>
            </a:r>
            <a:endParaRPr lang="en-IE" sz="2400" b="0" strike="noStrike" spc="-1">
              <a:solidFill>
                <a:srgbClr val="000000"/>
              </a:solidFill>
              <a:latin typeface="Arial"/>
            </a:endParaRPr>
          </a:p>
          <a:p>
            <a:pPr marL="558720" lvl="1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lang="en-IE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application layer</a:t>
            </a:r>
            <a:r>
              <a:rPr lang="en-IE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is expected to consume the data in some way</a:t>
            </a:r>
            <a:endParaRPr lang="en-IE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B3180AD-020B-4344-A068-8B2CE193156D}" type="slidenum"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TCP/IP and UDP/IP stacks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3650040" y="1276920"/>
            <a:ext cx="4629600" cy="47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C7BA05E9-10C4-44C3-9B51-25F6E5A1D3F3}" type="slidenum"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Addressing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8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lstStyle/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Each of these protocols have there own addressing schemes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Can anyone name the form of “address” used by: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996840" lvl="1" indent="-4572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Ethernet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996840" lvl="1" indent="-4572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WiFi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996840" lvl="1" indent="-4572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IP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996840" lvl="1" indent="-4572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TCP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4D78208-76CA-48C3-AB28-1C9F81E4FEE8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What happens when you type google.ie into your browser?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B75073A1-CB73-47FF-88FB-91238C934DB6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What happens when you type google.ie into your browser?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8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lang="en-GB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DNS lookup</a:t>
            </a: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is performed to find the IP address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lang="en-GB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HTTP request</a:t>
            </a: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is created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request is packaged into a </a:t>
            </a:r>
            <a:r>
              <a:rPr lang="en-GB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TCP segment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segment is packaged into an </a:t>
            </a:r>
            <a:r>
              <a:rPr lang="en-GB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IP packet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packet is packaged into a </a:t>
            </a:r>
            <a:r>
              <a:rPr lang="en-GB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WiFi frame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frame is transmitted over the network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4118F3F-4503-4769-BA8D-78B64D062034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380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rgbClr val="B60057"/>
                </a:solidFill>
                <a:latin typeface="Arial"/>
                <a:ea typeface="DejaVu Sans"/>
              </a:rPr>
              <a:t>Connecting the Pico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380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8B8B8B"/>
                </a:solidFill>
                <a:latin typeface="Arial"/>
                <a:ea typeface="DejaVu Sans"/>
              </a:rPr>
              <a:t>The Pico W has a built-in WiFi chip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B854556-20FB-49C4-B51F-BB72A6F7ACBC}" type="slidenum"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Scanning for networks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7" name="Picture 96"/>
          <p:cNvPicPr/>
          <p:nvPr/>
        </p:nvPicPr>
        <p:blipFill>
          <a:blip r:embed="rId3"/>
          <a:stretch/>
        </p:blipFill>
        <p:spPr>
          <a:xfrm>
            <a:off x="1620000" y="1440000"/>
            <a:ext cx="3546720" cy="485964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97"/>
          <p:cNvPicPr/>
          <p:nvPr/>
        </p:nvPicPr>
        <p:blipFill>
          <a:blip r:embed="rId4"/>
          <a:stretch/>
        </p:blipFill>
        <p:spPr>
          <a:xfrm>
            <a:off x="6058800" y="1620000"/>
            <a:ext cx="5640840" cy="3957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1C03A76-A2CE-42EB-9B45-9A161257608B}" type="slidenum"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WiFi channels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0" name="Picture 1" descr="A qr code with a few squares&#10;&#10;AI-generated content may be incorrect."/>
          <p:cNvPicPr/>
          <p:nvPr/>
        </p:nvPicPr>
        <p:blipFill>
          <a:blip r:embed="rId3"/>
          <a:stretch/>
        </p:blipFill>
        <p:spPr>
          <a:xfrm>
            <a:off x="6275880" y="888840"/>
            <a:ext cx="5079600" cy="5079600"/>
          </a:xfrm>
          <a:prstGeom prst="rect">
            <a:avLst/>
          </a:prstGeom>
          <a:ln w="0">
            <a:noFill/>
          </a:ln>
        </p:spPr>
      </p:pic>
      <p:sp>
        <p:nvSpPr>
          <p:cNvPr id="101" name="TextBox 3"/>
          <p:cNvSpPr/>
          <p:nvPr/>
        </p:nvSpPr>
        <p:spPr>
          <a:xfrm>
            <a:off x="835560" y="1713240"/>
            <a:ext cx="5096880" cy="39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0" strike="noStrike" spc="-1">
                <a:solidFill>
                  <a:schemeClr val="dk1"/>
                </a:solidFill>
                <a:latin typeface="Arial"/>
                <a:ea typeface="DejaVu Sans"/>
              </a:rPr>
              <a:t>WiFi uses radio configurations called </a:t>
            </a:r>
            <a:r>
              <a:rPr lang="en-GB" sz="2800" b="1" strike="noStrike" spc="-1">
                <a:solidFill>
                  <a:schemeClr val="dk1"/>
                </a:solidFill>
                <a:latin typeface="Arial"/>
                <a:ea typeface="DejaVu Sans"/>
                <a:hlinkClick r:id="rId4"/>
              </a:rPr>
              <a:t>channels</a:t>
            </a:r>
            <a:r>
              <a:rPr lang="en-GB" sz="2800" b="0" strike="noStrike" spc="-1">
                <a:solidFill>
                  <a:schemeClr val="dk1"/>
                </a:solidFill>
                <a:latin typeface="Arial"/>
                <a:ea typeface="DejaVu Sans"/>
              </a:rPr>
              <a:t>. Unfortunately, the Pico only supports a subset of the channels that a typical laptop or phone would work with. In particular, it doesn't work with 5GHz channels, only the older 2.4GHz</a:t>
            </a:r>
            <a:endParaRPr lang="en-IE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1AEAE8E-BB15-45A8-B121-B4ADDF2D6E1F}" type="slidenum"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Connecting to a network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3" name="Picture 99"/>
          <p:cNvPicPr/>
          <p:nvPr/>
        </p:nvPicPr>
        <p:blipFill>
          <a:blip r:embed="rId3"/>
          <a:stretch/>
        </p:blipFill>
        <p:spPr>
          <a:xfrm>
            <a:off x="893160" y="1502640"/>
            <a:ext cx="4866480" cy="4257000"/>
          </a:xfrm>
          <a:prstGeom prst="rect">
            <a:avLst/>
          </a:prstGeom>
          <a:ln w="0">
            <a:noFill/>
          </a:ln>
        </p:spPr>
      </p:pic>
      <p:pic>
        <p:nvPicPr>
          <p:cNvPr id="104" name="Picture 100"/>
          <p:cNvPicPr/>
          <p:nvPr/>
        </p:nvPicPr>
        <p:blipFill>
          <a:blip r:embed="rId4"/>
          <a:stretch/>
        </p:blipFill>
        <p:spPr>
          <a:xfrm>
            <a:off x="5942160" y="1761480"/>
            <a:ext cx="6117480" cy="3634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0F2F1C5-5DB9-4118-8CA2-6909C7AF83CC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Function to connect to WiFi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6" name="Picture 102"/>
          <p:cNvPicPr/>
          <p:nvPr/>
        </p:nvPicPr>
        <p:blipFill>
          <a:blip r:embed="rId3"/>
          <a:stretch/>
        </p:blipFill>
        <p:spPr>
          <a:xfrm>
            <a:off x="3600000" y="1470240"/>
            <a:ext cx="4484160" cy="4469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64B930E7-A4C8-4157-A60B-012C58B3EE26}" type="slidenum"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A very basic “server”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8" name="Picture 104"/>
          <p:cNvPicPr/>
          <p:nvPr/>
        </p:nvPicPr>
        <p:blipFill>
          <a:blip r:embed="rId3"/>
          <a:stretch/>
        </p:blipFill>
        <p:spPr>
          <a:xfrm>
            <a:off x="3361680" y="1301760"/>
            <a:ext cx="5277960" cy="4953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AE173009-4E42-4ADB-B781-BABE7F0FE85E}" type="slidenum"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BSD sockets in Python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0" name="Picture 106"/>
          <p:cNvPicPr/>
          <p:nvPr/>
        </p:nvPicPr>
        <p:blipFill>
          <a:blip r:embed="rId3"/>
          <a:stretch/>
        </p:blipFill>
        <p:spPr>
          <a:xfrm>
            <a:off x="7380000" y="1440000"/>
            <a:ext cx="4499640" cy="4499640"/>
          </a:xfrm>
          <a:prstGeom prst="rect">
            <a:avLst/>
          </a:prstGeom>
          <a:ln w="0">
            <a:noFill/>
          </a:ln>
        </p:spPr>
      </p:pic>
      <p:sp>
        <p:nvSpPr>
          <p:cNvPr id="111" name="TextBox 107"/>
          <p:cNvSpPr/>
          <p:nvPr/>
        </p:nvSpPr>
        <p:spPr>
          <a:xfrm>
            <a:off x="720000" y="1980000"/>
            <a:ext cx="6119640" cy="34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E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only thing missing from the previous code snippet is using </a:t>
            </a:r>
            <a:r>
              <a:rPr lang="en-IE" sz="32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cxn.sendall()</a:t>
            </a:r>
            <a:r>
              <a:rPr lang="en-IE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 to send some raw Python bytes back to the client!</a:t>
            </a:r>
            <a:endParaRPr lang="en-IE" sz="3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E" sz="3200" b="0" strike="noStrike" spc="-1">
                <a:solidFill>
                  <a:srgbClr val="000000"/>
                </a:solidFill>
                <a:latin typeface="Arial"/>
                <a:ea typeface="DejaVu Sans"/>
                <a:hlinkClick r:id="rId4"/>
              </a:rPr>
              <a:t>Link to tutorial</a:t>
            </a:r>
            <a:endParaRPr lang="en-I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8CE1BB00-2672-44B5-B0F3-4A64FD392DC4}" type="slidenum"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380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rgbClr val="B60057"/>
                </a:solidFill>
                <a:latin typeface="Arial"/>
                <a:ea typeface="DejaVu Sans"/>
              </a:rPr>
              <a:t>Dealing with Python bytes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380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8B8B8B"/>
                </a:solidFill>
                <a:latin typeface="Arial"/>
                <a:ea typeface="DejaVu Sans"/>
              </a:rPr>
              <a:t>Python distinguishes between the str (string) and bytes datatype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185B80E3-4960-4AFD-A66E-4EE0890B6900}" type="slidenum"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Dealing with bytes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38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Bytes-to-string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my_bytes.decode()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(assumes UTF-8)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String-to-bytes: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my_string.encode()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Bytes-to-int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: each byte can be indexed into to get an integer, but are you sure you don’t want to convert to a string first?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Int-to-bytes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: Create a list of integers in the range [0, 255], then pass it to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bytes()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5AFAD93C-EDA7-4F43-8A57-F4917D3DD54F}" type="slidenum"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Useful methods on strings and bytes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7720" y="1260000"/>
            <a:ext cx="105138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Slicing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[x:y]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(inclusive of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x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, exclusive of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y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.index(query)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.find(query)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Find the index of the first instance of the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query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.startswith(query)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Returns true if the object starts with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query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.endswith(query)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 Returns true if the object ends with </a:t>
            </a:r>
            <a:r>
              <a:rPr lang="en-US" sz="2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query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FEE53E38-D4AD-435E-835B-DA045F50B76A}" type="slidenum"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380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4C6C"/>
                </a:solidFill>
                <a:latin typeface="Arial"/>
                <a:ea typeface="DejaVu Sans"/>
              </a:rPr>
              <a:t>Summary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38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Went back over networking basics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to scan for networks and connect to them on the Pico W using MicroPython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We can then use Python’s socket API (almost) the same way as in CPython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It’s important to understand how to use strings and bytes objects in Python effectively to work with these APIs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67555753-A28B-424C-B101-6AFEBCA2E9A0}" type="slidenum"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610120" y="63882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B84343-5D56-4F64-853A-CBCAEDD7E1EA}" type="slidenum">
              <a:rPr lang="en-GB" sz="1600" b="1" strike="noStrike" spc="-1">
                <a:solidFill>
                  <a:srgbClr val="FAFBFD"/>
                </a:solidFill>
                <a:latin typeface="Arial"/>
                <a:ea typeface="DejaVu Sans"/>
              </a:rPr>
              <a:t>21</a:t>
            </a:fld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Rectangle 117"/>
          <p:cNvSpPr/>
          <p:nvPr/>
        </p:nvSpPr>
        <p:spPr>
          <a:xfrm>
            <a:off x="1619640" y="2160000"/>
            <a:ext cx="8818560" cy="162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E" sz="3600" b="0" strike="noStrike" spc="-1">
                <a:solidFill>
                  <a:srgbClr val="FFFFFF"/>
                </a:solidFill>
                <a:latin typeface="Arial"/>
                <a:ea typeface="DejaVu Sans"/>
              </a:rPr>
              <a:t>That’s all for this week</a:t>
            </a:r>
            <a:endParaRPr lang="en-IE" sz="3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E" sz="3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E" sz="3600" b="0" strike="noStrike" spc="-1">
                <a:solidFill>
                  <a:srgbClr val="FFFFFF"/>
                </a:solidFill>
                <a:latin typeface="Arial"/>
                <a:ea typeface="DejaVu Sans"/>
              </a:rPr>
              <a:t>Thanks for your attention!</a:t>
            </a:r>
            <a:endParaRPr lang="en-IE" sz="3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Application>Microsoft Office PowerPoint</Application>
  <PresentationFormat>Widescreen</PresentationFormat>
  <Slides>21</Slides>
  <Notes>12</Notes>
  <HiddenSlides>0</HiddenSlide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Week 3 Networking with the Pico W</vt:lpstr>
      <vt:lpstr>Lesson Outline</vt:lpstr>
      <vt:lpstr>Networking</vt:lpstr>
      <vt:lpstr>Networking</vt:lpstr>
      <vt:lpstr>OSI networking model</vt:lpstr>
      <vt:lpstr>TCP/IP and UDP/IP stacks</vt:lpstr>
      <vt:lpstr>Addressing</vt:lpstr>
      <vt:lpstr>What happens when you type google.ie into your browser?</vt:lpstr>
      <vt:lpstr>What happens when you type google.ie into your browser?</vt:lpstr>
      <vt:lpstr>Connecting the Pico</vt:lpstr>
      <vt:lpstr>Scanning for networks</vt:lpstr>
      <vt:lpstr>WiFi channels</vt:lpstr>
      <vt:lpstr>Connecting to a network</vt:lpstr>
      <vt:lpstr>Function to connect to WiFi</vt:lpstr>
      <vt:lpstr>A very basic “server”</vt:lpstr>
      <vt:lpstr>BSD sockets in Python</vt:lpstr>
      <vt:lpstr>Dealing with Python bytes</vt:lpstr>
      <vt:lpstr>Dealing with bytes</vt:lpstr>
      <vt:lpstr>Useful methods on strings and bytes</vt:lpstr>
      <vt:lpstr>Summary</vt:lpstr>
      <vt:lpstr>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110</cp:revision>
  <dcterms:created xsi:type="dcterms:W3CDTF">2025-01-27T13:51:31Z</dcterms:created>
  <dcterms:modified xsi:type="dcterms:W3CDTF">2025-10-02T07:36:39Z</dcterms:modified>
  <dc:language>en-IE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