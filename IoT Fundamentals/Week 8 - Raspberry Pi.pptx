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media/image6.png" ContentType="image/png"/>
  <Override PartName="/ppt/media/image10.png" ContentType="image/png"/>
  <Override PartName="/ppt/media/image2.jpeg" ContentType="image/jpeg"/>
  <Override PartName="/ppt/media/image4.png" ContentType="image/png"/>
  <Override PartName="/ppt/media/image3.png" ContentType="image/png"/>
  <Override PartName="/ppt/media/image5.jpeg" ContentType="image/jpe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media/image13.jpeg" ContentType="image/jpe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22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IE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3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ftr" idx="3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3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4A50F42-5D77-4BB1-BF7F-CD3179FC26F1}" type="slidenum"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756000" y="1336320"/>
            <a:ext cx="6044760" cy="360540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4760" cy="4206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34"/>
          </p:nvPr>
        </p:nvSpPr>
        <p:spPr>
          <a:xfrm>
            <a:off x="4282200" y="10155600"/>
            <a:ext cx="3272760" cy="53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2F110AB-A570-430D-B90A-71F14EEF0505}" type="slidenum">
              <a: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756000" y="1336320"/>
            <a:ext cx="6044760" cy="360540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4760" cy="4206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35"/>
          </p:nvPr>
        </p:nvSpPr>
        <p:spPr>
          <a:xfrm>
            <a:off x="4282200" y="10155600"/>
            <a:ext cx="3272760" cy="53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630295B-AD5C-48E3-B366-4D1B5CB58E70}" type="slidenum">
              <a: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756000" y="1336320"/>
            <a:ext cx="6044760" cy="360540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4760" cy="4206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36"/>
          </p:nvPr>
        </p:nvSpPr>
        <p:spPr>
          <a:xfrm>
            <a:off x="4282200" y="10155600"/>
            <a:ext cx="3272760" cy="53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F2564D5-1F3F-458B-86DE-2DAB92F4DB8E}" type="slidenum">
              <a: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FAA1E26-104E-4C13-BE70-4708F7D213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1378919-E1DE-418C-AA8D-DFE1423CB7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52DEC87-9C64-4560-A7C3-E1BA85F6AF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9E114F9-3E11-4C52-BD70-C2D24F26E9D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65C86B3F-BAC4-411D-8AD6-51D37A19FCF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88D9982-B24D-4802-A95C-B4BBC7CBE7E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906897AB-5A2A-453D-A89C-DD76B6ACEA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 w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8C29C160-CD3D-4366-9F29-29A051BED8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B2C9CB17-F35D-47BC-9284-9DD17BE6650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DFEFBCAC-B008-4DD5-A2DB-6B9166EC04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4038120" y="638820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8610120" y="638820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0CAD84D-B7FE-48F9-9CD9-01D663AEE817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837720" y="638820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4038120" y="638820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8610120" y="638820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BA8EAF6-581D-4C83-A137-345E0446A427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837720" y="638820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/>
          <p:nvPr/>
        </p:nvSpPr>
        <p:spPr>
          <a:xfrm>
            <a:off x="0" y="6311880"/>
            <a:ext cx="12188520" cy="542880"/>
          </a:xfrm>
          <a:prstGeom prst="rect">
            <a:avLst/>
          </a:prstGeom>
          <a:solidFill>
            <a:srgbClr val="00a9b7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7"/>
          </p:nvPr>
        </p:nvSpPr>
        <p:spPr>
          <a:xfrm>
            <a:off x="4038120" y="638820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8"/>
          </p:nvPr>
        </p:nvSpPr>
        <p:spPr>
          <a:xfrm>
            <a:off x="8610120" y="638820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1E97D5E-06B9-4F95-9862-78098B7435DB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dt" idx="9"/>
          </p:nvPr>
        </p:nvSpPr>
        <p:spPr>
          <a:xfrm>
            <a:off x="837720" y="638820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10"/>
          </p:nvPr>
        </p:nvSpPr>
        <p:spPr>
          <a:xfrm>
            <a:off x="4038120" y="638820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11"/>
          </p:nvPr>
        </p:nvSpPr>
        <p:spPr>
          <a:xfrm>
            <a:off x="8610120" y="638820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7c96cb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782514-DA27-4C00-9670-44943F1DB0CE}" type="slidenum">
              <a:rPr b="1" lang="en-GB" sz="1600" spc="-1" strike="noStrike">
                <a:solidFill>
                  <a:srgbClr val="7c96cb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dt" idx="12"/>
          </p:nvPr>
        </p:nvSpPr>
        <p:spPr>
          <a:xfrm>
            <a:off x="837720" y="638820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ftr" idx="13"/>
          </p:nvPr>
        </p:nvSpPr>
        <p:spPr>
          <a:xfrm>
            <a:off x="4038120" y="638820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14"/>
          </p:nvPr>
        </p:nvSpPr>
        <p:spPr>
          <a:xfrm>
            <a:off x="8610120" y="638820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7c96cb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1A80DAE-8DB8-42CA-8185-626D6E03CC10}" type="slidenum">
              <a:rPr b="1" lang="en-GB" sz="1600" spc="-1" strike="noStrike">
                <a:solidFill>
                  <a:srgbClr val="7c96cb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5"/>
          </p:nvPr>
        </p:nvSpPr>
        <p:spPr>
          <a:xfrm>
            <a:off x="837720" y="638820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E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6"/>
          <p:cNvSpPr/>
          <p:nvPr/>
        </p:nvSpPr>
        <p:spPr>
          <a:xfrm>
            <a:off x="0" y="6311880"/>
            <a:ext cx="12188520" cy="542880"/>
          </a:xfrm>
          <a:prstGeom prst="rect">
            <a:avLst/>
          </a:prstGeom>
          <a:solidFill>
            <a:srgbClr val="00a9b7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16"/>
          </p:nvPr>
        </p:nvSpPr>
        <p:spPr>
          <a:xfrm>
            <a:off x="4038120" y="638820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17"/>
          </p:nvPr>
        </p:nvSpPr>
        <p:spPr>
          <a:xfrm>
            <a:off x="8610120" y="638820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575B655-30A6-4214-8767-FBBFFA0FED17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dt" idx="18"/>
          </p:nvPr>
        </p:nvSpPr>
        <p:spPr>
          <a:xfrm>
            <a:off x="837720" y="638820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6"/>
          <p:cNvSpPr/>
          <p:nvPr/>
        </p:nvSpPr>
        <p:spPr>
          <a:xfrm>
            <a:off x="0" y="6311880"/>
            <a:ext cx="12188520" cy="542880"/>
          </a:xfrm>
          <a:prstGeom prst="rect">
            <a:avLst/>
          </a:prstGeom>
          <a:solidFill>
            <a:srgbClr val="00a9b7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ftr" idx="19"/>
          </p:nvPr>
        </p:nvSpPr>
        <p:spPr>
          <a:xfrm>
            <a:off x="4038120" y="638820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20"/>
          </p:nvPr>
        </p:nvSpPr>
        <p:spPr>
          <a:xfrm>
            <a:off x="8610120" y="638820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52F2300-ADA0-457D-A677-C784B150C750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dt" idx="21"/>
          </p:nvPr>
        </p:nvSpPr>
        <p:spPr>
          <a:xfrm>
            <a:off x="837720" y="638820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60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2"/>
          </p:nvPr>
        </p:nvSpPr>
        <p:spPr>
          <a:xfrm>
            <a:off x="4038120" y="638820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ffffff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23"/>
          </p:nvPr>
        </p:nvSpPr>
        <p:spPr>
          <a:xfrm>
            <a:off x="8610120" y="638820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E00D2AC-E9E9-46A1-82C5-A630FBBB9508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dt" idx="24"/>
          </p:nvPr>
        </p:nvSpPr>
        <p:spPr>
          <a:xfrm>
            <a:off x="837720" y="638820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60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ftr" idx="25"/>
          </p:nvPr>
        </p:nvSpPr>
        <p:spPr>
          <a:xfrm>
            <a:off x="4038120" y="638820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ffffff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26"/>
          </p:nvPr>
        </p:nvSpPr>
        <p:spPr>
          <a:xfrm>
            <a:off x="8610120" y="638820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37ABE39-7A2A-40C6-AB46-3CC078BE3E7A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dt" idx="27"/>
          </p:nvPr>
        </p:nvSpPr>
        <p:spPr>
          <a:xfrm>
            <a:off x="837720" y="638820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E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IE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IE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E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IE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IE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E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IE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IE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IE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IE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"/>
          <p:cNvSpPr/>
          <p:nvPr/>
        </p:nvSpPr>
        <p:spPr>
          <a:xfrm>
            <a:off x="0" y="6311880"/>
            <a:ext cx="12188520" cy="542880"/>
          </a:xfrm>
          <a:prstGeom prst="rect">
            <a:avLst/>
          </a:prstGeom>
          <a:solidFill>
            <a:srgbClr val="00a9b7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ftr" idx="28"/>
          </p:nvPr>
        </p:nvSpPr>
        <p:spPr>
          <a:xfrm>
            <a:off x="4038120" y="638820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sldNum" idx="29"/>
          </p:nvPr>
        </p:nvSpPr>
        <p:spPr>
          <a:xfrm>
            <a:off x="8610120" y="638820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868208-AED4-486B-8DB2-A91C3E44CFAC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dt" idx="30"/>
          </p:nvPr>
        </p:nvSpPr>
        <p:spPr>
          <a:xfrm>
            <a:off x="837720" y="638820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46360" y="3198240"/>
            <a:ext cx="8060760" cy="1307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IE" sz="4000" spc="-1" strike="noStrike">
                <a:solidFill>
                  <a:srgbClr val="fafbfd"/>
                </a:solidFill>
                <a:latin typeface="Arial"/>
                <a:ea typeface="Open sans"/>
              </a:rPr>
              <a:t>Week 8</a:t>
            </a:r>
            <a:br>
              <a:rPr sz="4000"/>
            </a:br>
            <a:r>
              <a:rPr b="1" lang="en-IE" sz="4000" spc="-1" strike="noStrike">
                <a:solidFill>
                  <a:srgbClr val="fafbfd"/>
                </a:solidFill>
                <a:latin typeface="Arial"/>
                <a:ea typeface="Open sans"/>
              </a:rPr>
              <a:t>Raspberry Pi</a:t>
            </a:r>
            <a:endParaRPr b="0" lang="en-IE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398520" y="5792400"/>
            <a:ext cx="6560640" cy="88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600" spc="-1" strike="noStrike">
                <a:solidFill>
                  <a:srgbClr val="fafbfd"/>
                </a:solidFill>
                <a:latin typeface="Open sans"/>
                <a:ea typeface="DejaVu Sans"/>
              </a:rPr>
              <a:t>Fundamentals of IoT</a:t>
            </a:r>
            <a:endParaRPr b="0" lang="en-IE" sz="2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600" spc="-1" strike="noStrike">
                <a:solidFill>
                  <a:srgbClr val="fafbfd"/>
                </a:solidFill>
                <a:latin typeface="Open sans"/>
                <a:ea typeface="DejaVu Sans"/>
              </a:rPr>
              <a:t>Dr. Eoin Rogers (eoin.rogers@tudublin.ie)</a:t>
            </a:r>
            <a:endParaRPr b="0" lang="en-IE" sz="2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000" cy="132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Lesson Outline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2000" cy="43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We’re going to introduce the full-size Raspberry Pi this week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Raspberry Pi programming with gpiozero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We’ll also review MQTT in preparation for this week’s lab!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We should have time to talk a bit about the lab at the end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610B3F2-B09A-4F7C-B041-72BA8AA02BE0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1600" y="1709640"/>
            <a:ext cx="10512000" cy="284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pc="-1" strike="noStrike">
                <a:solidFill>
                  <a:srgbClr val="b60057"/>
                </a:solidFill>
                <a:latin typeface="Arial"/>
                <a:ea typeface="DejaVu Sans"/>
              </a:rPr>
              <a:t>Raspberry Pi</a:t>
            </a:r>
            <a:endParaRPr b="0" lang="en-IE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31600" y="4589640"/>
            <a:ext cx="10512000" cy="149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8b8b8b"/>
                </a:solidFill>
                <a:latin typeface="Arial"/>
                <a:ea typeface="DejaVu Sans"/>
              </a:rPr>
              <a:t>A single-board computer, but very unlike the Pico!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243AFD5D-AA76-4EAB-8AF0-30D651B3E6C8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000" cy="132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Raspberry Pi 5 specs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2000" cy="43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333" lnSpcReduction="10000"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2.4 GHz 64-bit Arm processor (Broadcom SoC with 4 Cortex-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A76 cores)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800 MHz GPU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4 or 8GB of RAM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USB, Wifi, Gigabit Ethernet, support for OpenGL and Vulkan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But no built-in secondary storage (we have SD cards, can also 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boot over the network or USB)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AD9F06A-9D35-4144-9236-EBACDBF4A681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000" cy="132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Raspberry Pi 5 diagram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1701360" y="1440000"/>
            <a:ext cx="8738640" cy="46216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6774DE9-F9CA-4D03-A877-E5B50DE5E65E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000" cy="132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It runs Linux!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2700000" y="1499760"/>
            <a:ext cx="7573680" cy="42602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EB4720D-04B5-457D-AB8F-FDE8EAB9DF69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000" cy="132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Raspberry Pi Zero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" descr=""/>
          <p:cNvPicPr/>
          <p:nvPr/>
        </p:nvPicPr>
        <p:blipFill>
          <a:blip r:embed="rId1"/>
          <a:stretch/>
        </p:blipFill>
        <p:spPr>
          <a:xfrm>
            <a:off x="3225960" y="1620000"/>
            <a:ext cx="6314040" cy="37267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00650AF5-709F-4C2D-A38B-71606B724349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000" cy="132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Raspberry Pi 400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2340000" y="1440000"/>
            <a:ext cx="6840000" cy="45601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932B9097-8E2E-4668-8CA2-7986FD698BEB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1600" y="1709640"/>
            <a:ext cx="10512000" cy="284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pc="-1" strike="noStrike">
                <a:solidFill>
                  <a:srgbClr val="b60057"/>
                </a:solidFill>
                <a:latin typeface="Arial"/>
                <a:ea typeface="DejaVu Sans"/>
              </a:rPr>
              <a:t>GPIO on the Raspberry Pi</a:t>
            </a:r>
            <a:endParaRPr b="0" lang="en-IE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1600" y="4589640"/>
            <a:ext cx="10512000" cy="149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8b8b8b"/>
                </a:solidFill>
                <a:latin typeface="Arial"/>
                <a:ea typeface="DejaVu Sans"/>
              </a:rPr>
              <a:t>The Pi’s GPIO facilities are similar to the Pico’s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B32971C-DF49-44E5-852F-E2634389C605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000" cy="132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Raspberry Pi GPIO pinout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464400" y="1479600"/>
            <a:ext cx="7455600" cy="4280400"/>
          </a:xfrm>
          <a:prstGeom prst="rect">
            <a:avLst/>
          </a:prstGeom>
          <a:ln w="0">
            <a:noFill/>
          </a:ln>
        </p:spPr>
      </p:pic>
      <p:sp>
        <p:nvSpPr>
          <p:cNvPr id="96" name=""/>
          <p:cNvSpPr txBox="1"/>
          <p:nvPr/>
        </p:nvSpPr>
        <p:spPr>
          <a:xfrm>
            <a:off x="8280000" y="2160000"/>
            <a:ext cx="3600000" cy="32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IE" sz="2600" spc="-1" strike="noStrike">
                <a:solidFill>
                  <a:srgbClr val="000000"/>
                </a:solidFill>
                <a:latin typeface="Arial"/>
              </a:rPr>
              <a:t>Note the distinction between the </a:t>
            </a:r>
            <a:r>
              <a:rPr b="1" lang="en-IE" sz="2600" spc="-1" strike="noStrike">
                <a:solidFill>
                  <a:srgbClr val="000000"/>
                </a:solidFill>
                <a:latin typeface="Arial"/>
              </a:rPr>
              <a:t>Broadcom</a:t>
            </a:r>
            <a:r>
              <a:rPr b="0" lang="en-IE" sz="2600" spc="-1" strike="noStrike">
                <a:solidFill>
                  <a:srgbClr val="000000"/>
                </a:solidFill>
                <a:latin typeface="Arial"/>
              </a:rPr>
              <a:t> and </a:t>
            </a:r>
            <a:r>
              <a:rPr b="1" lang="en-IE" sz="2600" spc="-1" strike="noStrike">
                <a:solidFill>
                  <a:srgbClr val="000000"/>
                </a:solidFill>
                <a:latin typeface="Arial"/>
              </a:rPr>
              <a:t>Board naming </a:t>
            </a:r>
            <a:r>
              <a:rPr b="1" lang="en-IE" sz="2600" spc="-1" strike="noStrike">
                <a:solidFill>
                  <a:srgbClr val="000000"/>
                </a:solidFill>
                <a:latin typeface="Arial"/>
              </a:rPr>
              <a:t>schemes</a:t>
            </a:r>
            <a:r>
              <a:rPr b="0" lang="en-IE" sz="2600" spc="-1" strike="noStrike">
                <a:solidFill>
                  <a:srgbClr val="000000"/>
                </a:solidFill>
                <a:latin typeface="Arial"/>
              </a:rPr>
              <a:t> – this is important!</a:t>
            </a:r>
            <a:endParaRPr b="0" lang="en-IE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4C3F75F7-595D-4283-81E7-3FBFB2727163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000" cy="132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Libraries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2000" cy="43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A number of GPIO libraries exist for the Pi, and support a wide 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range of languages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The actual GPIO is controller from userspace via ioctls into a 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kernel module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Both low-level and high-level APIs have been implemented on 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top of this for a range of languages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192DA22C-2300-48B7-A4A0-766BCB59D8C3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1600" y="1709640"/>
            <a:ext cx="10512000" cy="284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pc="-1" strike="noStrike">
                <a:solidFill>
                  <a:srgbClr val="b60057"/>
                </a:solidFill>
                <a:latin typeface="Arial"/>
                <a:ea typeface="DejaVu Sans"/>
              </a:rPr>
              <a:t>gpiozero</a:t>
            </a:r>
            <a:endParaRPr b="0" lang="en-IE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831600" y="4589640"/>
            <a:ext cx="10512000" cy="149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8b8b8b"/>
                </a:solidFill>
                <a:latin typeface="Arial"/>
                <a:ea typeface="DejaVu Sans"/>
              </a:rPr>
              <a:t>Very easy to use Python GPIO library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13B8E302-6F3F-4860-AE88-31ABF3D96191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000" cy="132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Controlling an LED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600000" y="2053440"/>
            <a:ext cx="5047560" cy="28065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7C8AFA28-1374-4A15-B7CF-6E5D0E44CD34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000" cy="132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Blinking an LED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3600000" y="1658880"/>
            <a:ext cx="4959360" cy="37944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4DD3AD2B-3AD0-4A6E-86D2-C3D02FC1AA0E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000" cy="132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PWM LED control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3420000" y="2160000"/>
            <a:ext cx="5277960" cy="24544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0F28F1BD-31BA-4445-8F7C-B94DAED00908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000" cy="132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Toggle an LED with a button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>
            <a:off x="3060000" y="1687320"/>
            <a:ext cx="5716800" cy="36298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6637C0F9-2312-40DF-AFA8-1A2B950DC3BB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000" cy="132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Callbacks for hardware events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2700000" y="1440000"/>
            <a:ext cx="6645600" cy="45000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7F4BCDAE-ECA0-41CB-BFE3-BA035F25E913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1600" y="1709640"/>
            <a:ext cx="10512000" cy="284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pc="-1" strike="noStrike">
                <a:solidFill>
                  <a:srgbClr val="b60057"/>
                </a:solidFill>
                <a:latin typeface="Arial"/>
                <a:ea typeface="DejaVu Sans"/>
              </a:rPr>
              <a:t>MQTT overview</a:t>
            </a:r>
            <a:endParaRPr b="0" lang="en-IE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831600" y="4589640"/>
            <a:ext cx="10512000" cy="149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8b8b8b"/>
                </a:solidFill>
                <a:latin typeface="Arial"/>
                <a:ea typeface="DejaVu Sans"/>
              </a:rPr>
              <a:t>You’ll need to understand MQTT for the lab, so let’s review it!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BD9FB56-7C0F-49CC-83F7-B36448AB7519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000" cy="132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MQTT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object 4" descr=""/>
          <p:cNvPicPr/>
          <p:nvPr/>
        </p:nvPicPr>
        <p:blipFill>
          <a:blip r:embed="rId1"/>
          <a:stretch/>
        </p:blipFill>
        <p:spPr>
          <a:xfrm>
            <a:off x="900000" y="1440000"/>
            <a:ext cx="10514160" cy="44330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73F6DFFB-8E6A-4CDE-ADDD-5E379A22F269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31600" y="1709640"/>
            <a:ext cx="10512000" cy="284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pc="-1" strike="noStrike">
                <a:solidFill>
                  <a:srgbClr val="b60057"/>
                </a:solidFill>
                <a:latin typeface="Arial"/>
                <a:ea typeface="DejaVu Sans"/>
              </a:rPr>
              <a:t>Motor controller</a:t>
            </a:r>
            <a:endParaRPr b="0" lang="en-IE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831600" y="4589640"/>
            <a:ext cx="10512000" cy="149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8b8b8b"/>
                </a:solidFill>
                <a:latin typeface="Arial"/>
                <a:ea typeface="DejaVu Sans"/>
              </a:rPr>
              <a:t>A device used to control an electric motor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ACDAFBA-DD66-4230-882C-5873C9F3E8DD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000" cy="132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Motor controller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1080000" y="1440000"/>
            <a:ext cx="4329000" cy="4329000"/>
          </a:xfrm>
          <a:prstGeom prst="rect">
            <a:avLst/>
          </a:prstGeom>
          <a:ln w="0">
            <a:noFill/>
          </a:ln>
        </p:spPr>
      </p:pic>
      <p:sp>
        <p:nvSpPr>
          <p:cNvPr id="119" name=""/>
          <p:cNvSpPr txBox="1"/>
          <p:nvPr/>
        </p:nvSpPr>
        <p:spPr>
          <a:xfrm>
            <a:off x="6120000" y="1980000"/>
            <a:ext cx="5580000" cy="34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IE" sz="2400" spc="-1" strike="noStrike">
                <a:solidFill>
                  <a:srgbClr val="000000"/>
                </a:solidFill>
                <a:latin typeface="Arial"/>
              </a:rPr>
              <a:t>A device to control an electric motor. For example, the one shown to the left is used to control the lens of a digital camera. Why might we need such a device? Why not wire the motor directly to the GPIO pins? Where have we seen a motor controller before?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02AEF36F-F132-4650-90EC-36BA1EC3FD70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000" cy="132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Summary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825840" y="1260000"/>
            <a:ext cx="10512000" cy="43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Introduced the Raspberry Pi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Gave you a taste of programming the GPIO facilities. All other types of programming are the same as on a normal PC or laptop: it is just an ordinary computer running Linux!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Reviewed about MQTT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Introduced motor controllers, a new type of component, which is a device that controls one or more electric motors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1F1075FD-848B-445C-8D98-74EE71F6C9ED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610120" y="638820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9C99C4-500F-422A-96BC-BAD8B140BA8A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Rectangle 117"/>
          <p:cNvSpPr/>
          <p:nvPr/>
        </p:nvSpPr>
        <p:spPr>
          <a:xfrm>
            <a:off x="1619640" y="2160000"/>
            <a:ext cx="8816760" cy="16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IE" sz="3600" spc="-1" strike="noStrike">
                <a:solidFill>
                  <a:srgbClr val="ffffff"/>
                </a:solidFill>
                <a:latin typeface="Arial"/>
                <a:ea typeface="DejaVu Sans"/>
              </a:rPr>
              <a:t>That’s all for this week</a:t>
            </a:r>
            <a:endParaRPr b="0" lang="en-IE" sz="3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IE" sz="3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IE" sz="3600" spc="-1" strike="noStrike">
                <a:solidFill>
                  <a:srgbClr val="ffffff"/>
                </a:solidFill>
                <a:latin typeface="Arial"/>
                <a:ea typeface="DejaVu Sans"/>
              </a:rPr>
              <a:t>Thanks for your attention!</a:t>
            </a:r>
            <a:endParaRPr b="0" lang="en-IE" sz="3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475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2025-01-27T13:51:31Z</dcterms:created>
  <dc:creator/>
  <dc:description/>
  <dc:language>en-IE</dc:language>
  <cp:lastModifiedBy/>
  <dcterms:modified xsi:type="dcterms:W3CDTF">2025-11-05T14:21:44Z</dcterms:modified>
  <cp:revision>227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Widescreen</vt:lpwstr>
  </property>
  <property fmtid="{D5CDD505-2E9C-101B-9397-08002B2CF9AE}" pid="4" name="Slides">
    <vt:i4>21</vt:i4>
  </property>
</Properties>
</file>